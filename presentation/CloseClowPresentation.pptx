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91" r:id="rId23"/>
    <p:sldId id="292" r:id="rId24"/>
    <p:sldId id="293" r:id="rId25"/>
    <p:sldId id="294" r:id="rId26"/>
    <p:sldId id="295" r:id="rId27"/>
    <p:sldId id="296" r:id="rId28"/>
    <p:sldId id="297" r:id="rId29"/>
    <p:sldId id="287" r:id="rId30"/>
    <p:sldId id="290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E4EF716-39D4-4B4F-8EE0-2F68DFF3CA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E7A8C6B6-EA0C-41B6-8343-B60452A99842}" styleName="Table_1">
    <a:wholeTbl>
      <a:tcTxStyle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Style>
        <a:tcBdr/>
        <a:fill>
          <a:solidFill>
            <a:srgbClr val="CDD4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DD4EA"/>
          </a:solidFill>
        </a:fill>
      </a:tcStyle>
    </a:band1V>
    <a:band2V>
      <a:tcStyle>
        <a:tcBdr/>
      </a:tcStyle>
    </a:band2V>
    <a:lastCol>
      <a:tcTxStyle b="on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8" name="Google Shape;98;p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2" name="Google Shape;112;p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1" name="Google Shape;131;p6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7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7" name="Google Shape;157;p9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6" name="Google Shape;166;p10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6" name="Google Shape;176;p1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5" name="Google Shape;185;p1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3" name="Google Shape;193;p1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16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7" name="Google Shape;217;p17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6" name="Google Shape;226;p1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8" name="Google Shape;238;p19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7" name="Google Shape;247;p2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6" name="Google Shape;256;p20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4" name="Google Shape;264;p2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e60b20a7d0_2_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3e60b20a7d0_2_3:notes"/>
          <p:cNvSpPr txBox="1"/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2" name="Google Shape;412;g3e60b20a7d0_2_3:notes"/>
          <p:cNvSpPr txBox="1"/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36" name="Google Shape;436;p3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wo Content">
  <p:cSld name="1_Two Conten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0"/>
          <p:cNvSpPr/>
          <p:nvPr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7" name="Google Shape;17;p4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 rot="2999759">
            <a:off x="1292068" y="-612610"/>
            <a:ext cx="5135041" cy="70023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40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15055" y="4792776"/>
            <a:ext cx="1760572" cy="1842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1"/>
          <p:cNvSpPr/>
          <p:nvPr/>
        </p:nvSpPr>
        <p:spPr>
          <a:xfrm rot="5400000">
            <a:off x="5706291" y="372292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/>
              <a:buNone/>
            </a:pPr>
            <a:endParaRPr sz="1405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1" name="Google Shape;21;p41" descr="A picture containing food&#10;&#10;Description automatically generated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507849" y="6139546"/>
            <a:ext cx="598271" cy="701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1"/>
          <p:cNvSpPr txBox="1"/>
          <p:nvPr>
            <p:ph type="body" idx="1"/>
          </p:nvPr>
        </p:nvSpPr>
        <p:spPr>
          <a:xfrm>
            <a:off x="838200" y="1825625"/>
            <a:ext cx="10515600" cy="4088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2"/>
          <p:cNvSpPr txBox="1"/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0" name="Google Shape;30;p4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3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43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3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3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44"/>
          <p:cNvSpPr txBox="1"/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2" name="Google Shape;42;p44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4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44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5"/>
          <p:cNvSpPr txBox="1"/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45"/>
          <p:cNvSpPr txBox="1"/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45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45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46"/>
          <p:cNvSpPr txBox="1"/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55" name="Google Shape;55;p46"/>
          <p:cNvSpPr txBox="1"/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46"/>
          <p:cNvSpPr txBox="1"/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57" name="Google Shape;57;p46"/>
          <p:cNvSpPr txBox="1"/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46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6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6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7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7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47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8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48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4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9"/>
          <p:cNvSpPr txBox="1"/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73" name="Google Shape;73;p49"/>
          <p:cNvSpPr txBox="1"/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49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49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9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5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50"/>
          <p:cNvSpPr/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50"/>
          <p:cNvSpPr txBox="1"/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50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50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50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51"/>
          <p:cNvSpPr txBox="1"/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5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5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5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52"/>
          <p:cNvSpPr txBox="1"/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3" name="Google Shape;93;p5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5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5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1" name="Google Shape;11;p39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9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9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9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hyperlink" Target="https://huggingface.co/datasets/cornell-movie-review-data/rotten_tomatoes" TargetMode="External"/><Relationship Id="rId1" Type="http://schemas.openxmlformats.org/officeDocument/2006/relationships/hyperlink" Target="http://ai.stanford.edu/~amaas/data/sentiment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github.com/cjhutto/vaderSentiment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1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8.xml"/><Relationship Id="rId4" Type="http://schemas.openxmlformats.org/officeDocument/2006/relationships/slideLayout" Target="../slideLayouts/slideLayout2.xml"/><Relationship Id="rId3" Type="http://schemas.openxmlformats.org/officeDocument/2006/relationships/hyperlink" Target="https://creativecommons.org/licenses/by-sa/3.0/" TargetMode="External"/><Relationship Id="rId2" Type="http://schemas.openxmlformats.org/officeDocument/2006/relationships/hyperlink" Target="https://www.picpedia.org/highway-signs/q/questions.html" TargetMode="External"/><Relationship Id="rId1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"/>
          <p:cNvSpPr txBox="1"/>
          <p:nvPr/>
        </p:nvSpPr>
        <p:spPr>
          <a:xfrm>
            <a:off x="597550" y="1529025"/>
            <a:ext cx="5434500" cy="3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4900" b="1">
                <a:solidFill>
                  <a:schemeClr val="dk1"/>
                </a:solidFill>
              </a:rPr>
              <a:t>Movie Review Sentiment </a:t>
            </a:r>
            <a:endParaRPr sz="49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4900" b="1">
                <a:solidFill>
                  <a:schemeClr val="dk1"/>
                </a:solidFill>
              </a:rPr>
              <a:t>Analysis</a:t>
            </a:r>
            <a:endParaRPr sz="4900" b="1">
              <a:solidFill>
                <a:schemeClr val="dk1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 panose="020B0604020202020204"/>
              <a:buNone/>
            </a:pPr>
            <a:endParaRPr sz="4800" b="1">
              <a:solidFill>
                <a:schemeClr val="dk1"/>
              </a:solidFill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6032050" y="1377075"/>
            <a:ext cx="5769300" cy="37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 panose="020B0604020202020204"/>
              <a:buNone/>
            </a:pPr>
            <a:r>
              <a:rPr lang="en-US" sz="4000">
                <a:solidFill>
                  <a:schemeClr val="dk1"/>
                </a:solidFill>
              </a:rPr>
              <a:t>CloseClaw</a:t>
            </a:r>
            <a:endParaRPr sz="40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 panose="020B0604020202020204"/>
              <a:buNone/>
            </a:pPr>
            <a:endParaRPr sz="40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800">
                <a:solidFill>
                  <a:schemeClr val="dk1"/>
                </a:solidFill>
              </a:rPr>
              <a:t>Haotian Wang (z5576699)</a:t>
            </a:r>
            <a:endParaRPr sz="2800">
              <a:solidFill>
                <a:schemeClr val="dk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800">
                <a:solidFill>
                  <a:schemeClr val="dk1"/>
                </a:solidFill>
              </a:rPr>
              <a:t>Weiye </a:t>
            </a:r>
            <a:r>
              <a:rPr lang="en-US" sz="2800">
                <a:solidFill>
                  <a:schemeClr val="dk1"/>
                </a:solidFill>
              </a:rPr>
              <a:t>Li (z5597115)</a:t>
            </a:r>
            <a:endParaRPr sz="2800">
              <a:solidFill>
                <a:schemeClr val="dk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800">
                <a:solidFill>
                  <a:schemeClr val="dk1"/>
                </a:solidFill>
              </a:rPr>
              <a:t>Yingxin Li (z5519793)</a:t>
            </a:r>
            <a:endParaRPr sz="2800">
              <a:solidFill>
                <a:schemeClr val="dk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800">
                <a:solidFill>
                  <a:schemeClr val="dk1"/>
                </a:solidFill>
              </a:rPr>
              <a:t>Yanjian Shen (z5541664)</a:t>
            </a:r>
            <a:endParaRPr sz="2800">
              <a:solidFill>
                <a:schemeClr val="dk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800">
                <a:solidFill>
                  <a:schemeClr val="dk1"/>
                </a:solidFill>
              </a:rPr>
              <a:t>Kejing Wang (z5526880)</a:t>
            </a:r>
            <a:endParaRPr sz="2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Problems &amp; </a:t>
            </a:r>
            <a:r>
              <a:rPr lang="en-US"/>
              <a:t>Our task</a:t>
            </a:r>
            <a:endParaRPr lang="en-US"/>
          </a:p>
        </p:txBody>
      </p:sp>
      <p:sp>
        <p:nvSpPr>
          <p:cNvPr id="107" name="Google Shape;107;p5"/>
          <p:cNvSpPr txBox="1"/>
          <p:nvPr>
            <p:ph type="body" idx="1"/>
          </p:nvPr>
        </p:nvSpPr>
        <p:spPr>
          <a:xfrm>
            <a:off x="1282000" y="820900"/>
            <a:ext cx="10642800" cy="50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/>
              <a:t>Our Task</a:t>
            </a:r>
            <a:r>
              <a:rPr lang="en-US" sz="2700"/>
              <a:t>:</a:t>
            </a:r>
            <a:endParaRPr sz="2700"/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C00000"/>
                </a:solidFill>
              </a:rPr>
              <a:t>Three-category</a:t>
            </a:r>
            <a:r>
              <a:rPr lang="en-US" sz="2700"/>
              <a:t> </a:t>
            </a:r>
            <a:r>
              <a:rPr lang="en-US" sz="2700" b="1">
                <a:solidFill>
                  <a:srgbClr val="0000FF"/>
                </a:solidFill>
              </a:rPr>
              <a:t>film review</a:t>
            </a:r>
            <a:r>
              <a:rPr lang="en-US" sz="2700"/>
              <a:t> </a:t>
            </a:r>
            <a:r>
              <a:rPr lang="en-US" sz="2700" b="1">
                <a:solidFill>
                  <a:srgbClr val="674EA7"/>
                </a:solidFill>
              </a:rPr>
              <a:t>sentiment</a:t>
            </a:r>
            <a:r>
              <a:rPr lang="en-US" sz="2700" b="1"/>
              <a:t> analysis</a:t>
            </a:r>
            <a:endParaRPr sz="2700" b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700" b="1"/>
              <a:t>Three-category:</a:t>
            </a:r>
            <a:endParaRPr sz="2700" b="1"/>
          </a:p>
          <a:p>
            <a:pPr marL="1371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FF0000"/>
                </a:solidFill>
              </a:rPr>
              <a:t>0</a:t>
            </a:r>
            <a:r>
              <a:rPr lang="en-US" sz="2700" b="1"/>
              <a:t> represents </a:t>
            </a:r>
            <a:r>
              <a:rPr lang="en-US" sz="2700" b="1">
                <a:solidFill>
                  <a:srgbClr val="85200C"/>
                </a:solidFill>
              </a:rPr>
              <a:t>neutral</a:t>
            </a:r>
            <a:endParaRPr sz="2700" b="1">
              <a:solidFill>
                <a:srgbClr val="85200C"/>
              </a:solidFill>
            </a:endParaRPr>
          </a:p>
          <a:p>
            <a:pPr marL="1371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FF0000"/>
                </a:solidFill>
              </a:rPr>
              <a:t>1</a:t>
            </a:r>
            <a:r>
              <a:rPr lang="en-US" sz="2700" b="1"/>
              <a:t> represents </a:t>
            </a:r>
            <a:r>
              <a:rPr lang="en-US" sz="2700" b="1">
                <a:solidFill>
                  <a:srgbClr val="6AA84F"/>
                </a:solidFill>
              </a:rPr>
              <a:t>positive</a:t>
            </a:r>
            <a:endParaRPr sz="2700" b="1">
              <a:solidFill>
                <a:srgbClr val="6AA84F"/>
              </a:solidFill>
            </a:endParaRPr>
          </a:p>
          <a:p>
            <a:pPr marL="1371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FF0000"/>
                </a:solidFill>
              </a:rPr>
              <a:t>-1 </a:t>
            </a:r>
            <a:r>
              <a:rPr lang="en-US" sz="2700" b="1"/>
              <a:t>represents </a:t>
            </a:r>
            <a:r>
              <a:rPr lang="en-US" sz="2700" b="1">
                <a:solidFill>
                  <a:srgbClr val="CC0000"/>
                </a:solidFill>
              </a:rPr>
              <a:t>negative</a:t>
            </a:r>
            <a:endParaRPr sz="2700" b="1">
              <a:solidFill>
                <a:srgbClr val="CC000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00" b="1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/>
              <a:t>“The movie is really Good!” -&gt; </a:t>
            </a:r>
            <a:r>
              <a:rPr lang="en-US" sz="2100" b="1">
                <a:solidFill>
                  <a:srgbClr val="548135"/>
                </a:solidFill>
              </a:rPr>
              <a:t>positive</a:t>
            </a:r>
            <a:endParaRPr sz="2100" b="1">
              <a:solidFill>
                <a:srgbClr val="54813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100" b="1"/>
              <a:t>“The movie is really bad!, I wont recommend it!!” -&gt; </a:t>
            </a:r>
            <a:r>
              <a:rPr lang="en-US" sz="2100" b="1">
                <a:solidFill>
                  <a:srgbClr val="980000"/>
                </a:solidFill>
              </a:rPr>
              <a:t>negative</a:t>
            </a:r>
            <a:endParaRPr sz="2100" b="1">
              <a:solidFill>
                <a:srgbClr val="98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100" b="1"/>
              <a:t>“This movie has very few redeeming qualities, but it's still watchable.” -&gt; </a:t>
            </a:r>
            <a:r>
              <a:rPr lang="en-US" sz="2100" b="1">
                <a:solidFill>
                  <a:srgbClr val="CC4125"/>
                </a:solidFill>
              </a:rPr>
              <a:t>negative</a:t>
            </a:r>
            <a:endParaRPr sz="2100" b="1">
              <a:solidFill>
                <a:srgbClr val="CC4125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00" b="1"/>
          </a:p>
        </p:txBody>
      </p:sp>
      <p:sp>
        <p:nvSpPr>
          <p:cNvPr id="108" name="Google Shape;108;p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9" name="Google Shape;109;p5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/>
              <a:t>Data </a:t>
            </a:r>
            <a:r>
              <a:rPr lang="en-US"/>
              <a:t>sources</a:t>
            </a:r>
            <a:endParaRPr lang="en-US"/>
          </a:p>
        </p:txBody>
      </p:sp>
      <p:sp>
        <p:nvSpPr>
          <p:cNvPr id="115" name="Google Shape;115;p3"/>
          <p:cNvSpPr txBox="1"/>
          <p:nvPr>
            <p:ph type="body" idx="1"/>
          </p:nvPr>
        </p:nvSpPr>
        <p:spPr>
          <a:xfrm>
            <a:off x="231648" y="847344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Noto Sans Symbols"/>
              <a:buChar char="⮚"/>
            </a:pPr>
            <a:r>
              <a:rPr lang="en-US"/>
              <a:t> Existing open source datasets</a:t>
            </a:r>
            <a:endParaRPr lang="en-US"/>
          </a:p>
          <a:p>
            <a:pPr marL="1428750" lvl="2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 panose="020B0604020202020204"/>
              <a:buAutoNum type="arabicPeriod"/>
            </a:pPr>
            <a:r>
              <a:rPr lang="en-US" u="sng">
                <a:solidFill>
                  <a:schemeClr val="hlink"/>
                </a:solidFill>
                <a:hlinkClick r:id="rId1"/>
              </a:rPr>
              <a:t>IMDB Large Movie Review Dataset (2011)</a:t>
            </a:r>
            <a:r>
              <a:rPr lang="en-US"/>
              <a:t> (</a:t>
            </a:r>
            <a:r>
              <a:rPr lang="en-US" b="1"/>
              <a:t>100k rows</a:t>
            </a:r>
            <a:r>
              <a:rPr lang="en-US"/>
              <a:t>)</a:t>
            </a:r>
            <a:endParaRPr lang="en-US"/>
          </a:p>
          <a:p>
            <a:pPr marL="1428750" lvl="2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 panose="020B0604020202020204"/>
              <a:buAutoNum type="arabicPeriod"/>
            </a:pPr>
            <a:r>
              <a:rPr lang="en-US" u="sng">
                <a:solidFill>
                  <a:schemeClr val="hlink"/>
                </a:solidFill>
                <a:hlinkClick r:id="rId2"/>
              </a:rPr>
              <a:t>cornell-movie-review-data/rotten_tomatoes</a:t>
            </a:r>
            <a:r>
              <a:rPr lang="en-US"/>
              <a:t> </a:t>
            </a:r>
            <a:r>
              <a:rPr lang="en-US" b="1"/>
              <a:t>(10.67k rows</a:t>
            </a:r>
            <a:r>
              <a:rPr lang="en-US"/>
              <a:t>)</a:t>
            </a:r>
            <a:endParaRPr lang="en-US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Noto Sans Symbols"/>
              <a:buChar char="⮚"/>
            </a:pPr>
            <a:r>
              <a:rPr lang="en-US"/>
              <a:t>Self-collected dataset</a:t>
            </a:r>
            <a:endParaRPr lang="en-US"/>
          </a:p>
          <a:p>
            <a:pPr marL="457200" lvl="1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	IMDB latest movies (2026) (</a:t>
            </a:r>
            <a:r>
              <a:rPr lang="en-US" b="1"/>
              <a:t>25,618 rows</a:t>
            </a:r>
            <a:r>
              <a:rPr lang="en-US"/>
              <a:t>)</a:t>
            </a:r>
            <a:endParaRPr lang="en-US"/>
          </a:p>
          <a:p>
            <a:pPr marL="685800" lvl="1" indent="-76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None/>
            </a:p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Noto Sans Symbols"/>
              <a:buNone/>
            </a:pPr>
          </a:p>
        </p:txBody>
      </p:sp>
      <p:sp>
        <p:nvSpPr>
          <p:cNvPr id="116" name="Google Shape;116;p3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17" name="Google Shape;117;p3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8" name="Google Shape;118;p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445825" y="2089575"/>
            <a:ext cx="4018126" cy="4029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3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329479" y="3296089"/>
            <a:ext cx="5291240" cy="24080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it looks like</a:t>
            </a:r>
            <a:endParaRPr lang="en-US"/>
          </a:p>
        </p:txBody>
      </p:sp>
      <p:sp>
        <p:nvSpPr>
          <p:cNvPr id="125" name="Google Shape;125;p4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</a:p>
        </p:txBody>
      </p:sp>
      <p:sp>
        <p:nvSpPr>
          <p:cNvPr id="126" name="Google Shape;126;p4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27" name="Google Shape;127;p4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8" name="Google Shape;128;p4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329184" y="847344"/>
            <a:ext cx="11389489" cy="5178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/>
              <a:t>Dataset Analysis: 1. Length problem</a:t>
            </a:r>
            <a:endParaRPr lang="en-US"/>
          </a:p>
        </p:txBody>
      </p:sp>
      <p:sp>
        <p:nvSpPr>
          <p:cNvPr id="134" name="Google Shape;134;p6"/>
          <p:cNvSpPr txBox="1"/>
          <p:nvPr>
            <p:ph type="body" idx="1"/>
          </p:nvPr>
        </p:nvSpPr>
        <p:spPr>
          <a:xfrm>
            <a:off x="63815" y="755441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000"/>
              <a:t>For the </a:t>
            </a:r>
            <a:r>
              <a:rPr lang="en-US" sz="2000" b="1"/>
              <a:t>best movie review input </a:t>
            </a:r>
            <a:r>
              <a:rPr lang="en-US" sz="2000"/>
              <a:t>for later generic model training &amp; evaluating, we want the </a:t>
            </a:r>
            <a:r>
              <a:rPr lang="en-US" sz="2000" b="1"/>
              <a:t>[20, 200]</a:t>
            </a:r>
            <a:r>
              <a:rPr lang="en-US" sz="2000"/>
              <a:t> words of the movie review.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000"/>
              <a:t>For example, some reviews are very long. Even after removing high-frequency and low-meaning stopwords, they still contain 376 words, as shown below.</a:t>
            </a:r>
            <a:endParaRPr sz="2000"/>
          </a:p>
        </p:txBody>
      </p:sp>
      <p:sp>
        <p:nvSpPr>
          <p:cNvPr id="135" name="Google Shape;135;p6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36" name="Google Shape;136;p6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7" name="Google Shape;137;p6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558004" y="2242517"/>
            <a:ext cx="6342928" cy="4372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/>
              <a:t>Dataset Analysis: 2. Non-ASCII characters</a:t>
            </a:r>
            <a:endParaRPr lang="en-US"/>
          </a:p>
        </p:txBody>
      </p:sp>
      <p:sp>
        <p:nvSpPr>
          <p:cNvPr id="143" name="Google Shape;143;p7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/>
              <a:t>NLP Large Model can understand English and possibly other languages. But for this project task, we </a:t>
            </a:r>
            <a:r>
              <a:rPr lang="en-US" b="1"/>
              <a:t>filtered</a:t>
            </a:r>
            <a:r>
              <a:rPr lang="en-US"/>
              <a:t> the reviews containing </a:t>
            </a:r>
            <a:r>
              <a:rPr lang="en-US" b="1">
                <a:solidFill>
                  <a:srgbClr val="FF0000"/>
                </a:solidFill>
              </a:rPr>
              <a:t>non-ASCII</a:t>
            </a:r>
            <a:r>
              <a:rPr lang="en-US">
                <a:solidFill>
                  <a:srgbClr val="FF0000"/>
                </a:solidFill>
              </a:rPr>
              <a:t> </a:t>
            </a:r>
            <a:r>
              <a:rPr lang="en-US"/>
              <a:t>characters for the purity, just like </a:t>
            </a:r>
            <a:r>
              <a:rPr lang="en-US" b="1"/>
              <a:t>emoji</a:t>
            </a:r>
            <a:r>
              <a:rPr lang="en-US"/>
              <a:t>, </a:t>
            </a:r>
            <a:r>
              <a:rPr lang="en-US" b="1"/>
              <a:t>non-English characters</a:t>
            </a:r>
            <a:r>
              <a:rPr lang="en-US"/>
              <a:t>.</a:t>
            </a:r>
            <a:endParaRPr lang="en-US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</a:p>
          <a:p>
            <a:pPr marL="914400" lvl="2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800"/>
              <a:t>González</a:t>
            </a:r>
            <a:endParaRPr sz="2800"/>
          </a:p>
          <a:p>
            <a:pPr marL="914400" lvl="2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800"/>
              <a:t>trémula</a:t>
            </a:r>
            <a:endParaRPr sz="2800"/>
          </a:p>
          <a:p>
            <a:pPr marL="914400" lvl="2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800"/>
              <a:t>7º</a:t>
            </a:r>
            <a:endParaRPr sz="2800"/>
          </a:p>
          <a:p>
            <a:pPr marL="914400" lvl="2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800"/>
              <a:t>½</a:t>
            </a:r>
            <a:endParaRPr sz="2800"/>
          </a:p>
          <a:p>
            <a:pPr marL="914400" lvl="2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800"/>
              <a:t>Sööt</a:t>
            </a:r>
            <a:endParaRPr sz="2800"/>
          </a:p>
          <a:p>
            <a:pPr marL="914400" lvl="2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800"/>
              <a:t>7º</a:t>
            </a:r>
            <a:endParaRPr sz="2800"/>
          </a:p>
          <a:p>
            <a:pPr marL="914400" lvl="2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800"/>
              <a:t>años</a:t>
            </a:r>
            <a:endParaRPr sz="2800"/>
          </a:p>
        </p:txBody>
      </p:sp>
      <p:sp>
        <p:nvSpPr>
          <p:cNvPr id="144" name="Google Shape;144;p7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45" name="Google Shape;145;p7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/>
              <a:t>Dataset Analysis: 3. Satirical comments</a:t>
            </a:r>
            <a:endParaRPr lang="en-US"/>
          </a:p>
        </p:txBody>
      </p:sp>
      <p:sp>
        <p:nvSpPr>
          <p:cNvPr id="151" name="Google Shape;151;p8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sz="2400"/>
              <a:t>There are many sarcastic reviews in the datasets, just like the review</a:t>
            </a:r>
            <a:endParaRPr sz="2400"/>
          </a:p>
          <a:p>
            <a:pPr marL="5334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None/>
            </a:pPr>
            <a:r>
              <a:rPr lang="en-US" sz="2000" i="1">
                <a:solidFill>
                  <a:srgbClr val="2F5496"/>
                </a:solidFill>
              </a:rPr>
              <a:t>look so good Yes, it cannot be better any more</a:t>
            </a:r>
            <a:endParaRPr sz="2000" i="1">
              <a:solidFill>
                <a:srgbClr val="2F5496"/>
              </a:solidFill>
            </a:endParaRPr>
          </a:p>
          <a:p>
            <a:pPr marL="5334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None/>
            </a:pPr>
            <a:r>
              <a:rPr lang="en-US" sz="2000"/>
              <a:t>literally we'd regard it as an </a:t>
            </a:r>
            <a:r>
              <a:rPr lang="en-US" sz="2000" b="1">
                <a:solidFill>
                  <a:srgbClr val="548135"/>
                </a:solidFill>
              </a:rPr>
              <a:t>optimistic</a:t>
            </a:r>
            <a:r>
              <a:rPr lang="en-US" sz="2000"/>
              <a:t> review, but the reviewer gave </a:t>
            </a:r>
            <a:r>
              <a:rPr lang="en-US" sz="2000" b="1"/>
              <a:t>only </a:t>
            </a:r>
            <a:r>
              <a:rPr lang="en-US" sz="2000" b="1">
                <a:solidFill>
                  <a:srgbClr val="FF0000"/>
                </a:solidFill>
              </a:rPr>
              <a:t>1</a:t>
            </a:r>
            <a:r>
              <a:rPr lang="en-US" sz="2000" b="1"/>
              <a:t> marks as the lowest mark</a:t>
            </a:r>
            <a:r>
              <a:rPr lang="en-US" sz="2000"/>
              <a:t>.</a:t>
            </a:r>
            <a:endParaRPr sz="2000"/>
          </a:p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sz="2400"/>
              <a:t>In the future, for avoidance of large model to be confused, we will </a:t>
            </a:r>
            <a:r>
              <a:rPr lang="en-US" sz="2400" b="1">
                <a:solidFill>
                  <a:srgbClr val="FF0000"/>
                </a:solidFill>
              </a:rPr>
              <a:t>re-annotate</a:t>
            </a:r>
            <a:r>
              <a:rPr lang="en-US" sz="2400">
                <a:solidFill>
                  <a:srgbClr val="FF0000"/>
                </a:solidFill>
              </a:rPr>
              <a:t> </a:t>
            </a:r>
            <a:r>
              <a:rPr lang="en-US" sz="2400"/>
              <a:t>the labels by the other three large models.</a:t>
            </a:r>
            <a:endParaRPr lang="en-US" sz="2400"/>
          </a:p>
        </p:txBody>
      </p:sp>
      <p:sp>
        <p:nvSpPr>
          <p:cNvPr id="152" name="Google Shape;152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53" name="Google Shape;153;p8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4" name="Google Shape;154;p8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31648" y="3584269"/>
            <a:ext cx="11810053" cy="1612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/>
              <a:t>Dataset Analysis: 4. The centrists rated 5 or 6</a:t>
            </a:r>
            <a:endParaRPr lang="en-US"/>
          </a:p>
        </p:txBody>
      </p:sp>
      <p:sp>
        <p:nvSpPr>
          <p:cNvPr id="160" name="Google Shape;160;p9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400"/>
              <a:t>For example, IMDB's rates is in </a:t>
            </a:r>
            <a:r>
              <a:rPr lang="en-US" sz="2400" b="1"/>
              <a:t>[1, 10]</a:t>
            </a:r>
            <a:r>
              <a:rPr lang="en-US" sz="2400"/>
              <a:t>. 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400"/>
              <a:t>For </a:t>
            </a:r>
            <a:r>
              <a:rPr lang="en-US" sz="2400" b="1"/>
              <a:t>[4, 7]. </a:t>
            </a:r>
            <a:r>
              <a:rPr lang="en-US" sz="2400"/>
              <a:t>Because they are </a:t>
            </a:r>
            <a:r>
              <a:rPr lang="en-US" sz="2400" b="1">
                <a:solidFill>
                  <a:srgbClr val="FF0000"/>
                </a:solidFill>
              </a:rPr>
              <a:t>not clear enough</a:t>
            </a:r>
            <a:r>
              <a:rPr lang="en-US" sz="2400"/>
              <a:t> to show the attitudes, later we'd consider </a:t>
            </a:r>
            <a:r>
              <a:rPr lang="en-US" sz="2400" b="1">
                <a:solidFill>
                  <a:schemeClr val="accent1"/>
                </a:solidFill>
              </a:rPr>
              <a:t>re-annotate</a:t>
            </a:r>
            <a:r>
              <a:rPr lang="en-US" sz="2400"/>
              <a:t> them again. 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400"/>
              <a:t>Besides, large models also need to learn some </a:t>
            </a:r>
            <a:r>
              <a:rPr lang="en-US" sz="2400" b="1"/>
              <a:t>necessary centrists reviews</a:t>
            </a:r>
            <a:r>
              <a:rPr lang="en-US" sz="2400"/>
              <a:t> as the training data.</a:t>
            </a:r>
            <a:endParaRPr sz="2400"/>
          </a:p>
        </p:txBody>
      </p:sp>
      <p:sp>
        <p:nvSpPr>
          <p:cNvPr id="161" name="Google Shape;161;p9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62" name="Google Shape;162;p9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3" name="Google Shape;163;p9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3397168" y="2357355"/>
            <a:ext cx="5312782" cy="43641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/>
              <a:t>Multi-Model Annotation Pipeline</a:t>
            </a:r>
            <a:endParaRPr lang="en-US"/>
          </a:p>
        </p:txBody>
      </p:sp>
      <p:sp>
        <p:nvSpPr>
          <p:cNvPr id="169" name="Google Shape;169;p10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29000"/>
              <a:buNone/>
            </a:pPr>
            <a:r>
              <a:rPr lang="en-US" b="1"/>
              <a:t>Goal</a:t>
            </a:r>
            <a:r>
              <a:rPr lang="en-US"/>
              <a:t>: Use LLMs to automatically generate high-quality sentiment labels for movie reviews, serving as training data for the downstream fine-tuned model.</a:t>
            </a:r>
            <a:endParaRPr lang="en-US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29000"/>
              <a:buNone/>
            </a:pPr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29000"/>
              <a:buNone/>
            </a:pPr>
            <a:r>
              <a:rPr lang="en-US" b="1"/>
              <a:t>3-class labels</a:t>
            </a:r>
            <a:r>
              <a:rPr lang="en-US"/>
              <a:t>: positive (+1) / negative (−1) / mixed (0)</a:t>
            </a:r>
            <a:endParaRPr lang="en-US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29000"/>
              <a:buNone/>
            </a:pPr>
            <a:endParaRPr b="1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29000"/>
              <a:buNone/>
            </a:pPr>
            <a:r>
              <a:rPr lang="en-US" b="1"/>
              <a:t>Multi-LLM Consensus Mechanism</a:t>
            </a:r>
            <a:r>
              <a:rPr lang="en-US"/>
              <a:t> (key design):</a:t>
            </a:r>
            <a:endParaRPr lang="en-US"/>
          </a:p>
          <a:p>
            <a:pPr marL="457200" lvl="0" indent="-3721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9000"/>
              <a:buChar char="•"/>
            </a:pPr>
            <a:r>
              <a:rPr lang="en-US" b="1"/>
              <a:t>Annotator A</a:t>
            </a:r>
            <a:r>
              <a:rPr lang="en-US"/>
              <a:t>: GPT-4o-mini (OpenAI)</a:t>
            </a:r>
            <a:endParaRPr lang="en-US"/>
          </a:p>
          <a:p>
            <a:pPr marL="457200" lvl="0" indent="-3721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9000"/>
              <a:buChar char="•"/>
            </a:pPr>
            <a:r>
              <a:rPr lang="en-US" b="1"/>
              <a:t>Annotator B</a:t>
            </a:r>
            <a:r>
              <a:rPr lang="en-US"/>
              <a:t>: Gemini-2.5-flash (Google)</a:t>
            </a:r>
            <a:endParaRPr lang="en-US"/>
          </a:p>
          <a:p>
            <a:pPr marL="457200" lvl="0" indent="-3721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9000"/>
              <a:buChar char="•"/>
            </a:pPr>
            <a:r>
              <a:rPr lang="en-US"/>
              <a:t>Judge: GPT-4o (OpenAI)</a:t>
            </a:r>
            <a:endParaRPr lang="en-US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29000"/>
              <a:buNone/>
            </a:pPr>
            <a:endParaRPr b="1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29000"/>
              <a:buNone/>
            </a:pPr>
            <a:r>
              <a:rPr lang="en-US" b="1"/>
              <a:t>Three-branch Consensus Routing</a:t>
            </a:r>
            <a:r>
              <a:rPr lang="en-US"/>
              <a:t>:</a:t>
            </a:r>
            <a:endParaRPr lang="en-US"/>
          </a:p>
          <a:p>
            <a:pPr marL="457200" lvl="0" indent="-3721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9000"/>
              <a:buChar char="•"/>
            </a:pPr>
            <a:r>
              <a:rPr lang="en-US" b="1"/>
              <a:t>Strong consensus</a:t>
            </a:r>
            <a:r>
              <a:rPr lang="en-US"/>
              <a:t>: A &amp; B agree on both sentiment and difficulty → accept directly</a:t>
            </a:r>
            <a:endParaRPr lang="en-US"/>
          </a:p>
          <a:p>
            <a:pPr marL="457200" lvl="0" indent="-3721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9000"/>
              <a:buChar char="•"/>
            </a:pPr>
            <a:r>
              <a:rPr lang="en-US" b="1"/>
              <a:t>Weak consensus</a:t>
            </a:r>
            <a:r>
              <a:rPr lang="en-US"/>
              <a:t>: Same sentiment, different difficulty → take the higher difficulty</a:t>
            </a:r>
            <a:endParaRPr lang="en-US"/>
          </a:p>
          <a:p>
            <a:pPr marL="457200" lvl="0" indent="-37211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29000"/>
              <a:buChar char="•"/>
            </a:pPr>
            <a:r>
              <a:rPr lang="en-US" b="1"/>
              <a:t>Zero consensus</a:t>
            </a:r>
            <a:r>
              <a:rPr lang="en-US"/>
              <a:t>: Sentiment conflict → invoke </a:t>
            </a:r>
            <a:r>
              <a:rPr lang="en-US" b="1"/>
              <a:t>GPT-4o as Judge</a:t>
            </a:r>
            <a:r>
              <a:rPr lang="en-US"/>
              <a:t> for final verdict</a:t>
            </a:r>
            <a:endParaRPr lang="en-US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9000"/>
              <a:buNone/>
            </a:pPr>
          </a:p>
        </p:txBody>
      </p:sp>
      <p:sp>
        <p:nvSpPr>
          <p:cNvPr id="170" name="Google Shape;170;p10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71" name="Google Shape;171;p10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Alan Blair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2" name="Google Shape;172;p10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209099" y="1463276"/>
            <a:ext cx="3512499" cy="3086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0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9067400" y="4599519"/>
            <a:ext cx="2469800" cy="89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1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/>
              <a:t>Multi-Model Annotation Pipeline</a:t>
            </a:r>
            <a:endParaRPr lang="en-US"/>
          </a:p>
        </p:txBody>
      </p:sp>
      <p:sp>
        <p:nvSpPr>
          <p:cNvPr id="179" name="Google Shape;179;p11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b="1"/>
              <a:t>Each annotated record contains</a:t>
            </a:r>
            <a:r>
              <a:rPr lang="en-US"/>
              <a:t>:</a:t>
            </a:r>
            <a:endParaRPr lang="en-US"/>
          </a:p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sentiment: label</a:t>
            </a:r>
            <a:endParaRPr lang="en-US"/>
          </a:p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difficulty: 1–3 (1=explicit, 2=contrastive, 3=implicit/sarcastic)</a:t>
            </a:r>
            <a:endParaRPr lang="en-US"/>
          </a:p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ambiguous_flag: whether reasonable disagreement remains</a:t>
            </a:r>
            <a:endParaRPr lang="en-US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b="1"/>
              <a:t>Output statistic：</a:t>
            </a:r>
            <a:endParaRPr lang="en-US" b="1"/>
          </a:p>
        </p:txBody>
      </p:sp>
      <p:sp>
        <p:nvSpPr>
          <p:cNvPr id="180" name="Google Shape;180;p1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81" name="Google Shape;181;p11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Fatemeh Morgani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182" name="Google Shape;182;p11"/>
          <p:cNvGraphicFramePr/>
          <p:nvPr/>
        </p:nvGraphicFramePr>
        <p:xfrm>
          <a:off x="3826877" y="4114352"/>
          <a:ext cx="3285825" cy="3000000"/>
        </p:xfrm>
        <a:graphic>
          <a:graphicData uri="http://schemas.openxmlformats.org/drawingml/2006/table">
            <a:tbl>
              <a:tblPr>
                <a:noFill/>
                <a:tableStyleId>{CE4EF716-39D4-4B4F-8EE0-2F68DFF3CAA8}</a:tableStyleId>
              </a:tblPr>
              <a:tblGrid>
                <a:gridCol w="1168575"/>
                <a:gridCol w="1024875"/>
                <a:gridCol w="1092375"/>
              </a:tblGrid>
              <a:tr h="340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Category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Count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Proportion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40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No Dispute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22,400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79.16%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40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Disputed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5,896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 panose="020B0604020202020204"/>
                        <a:buNone/>
                      </a:pPr>
                      <a:r>
                        <a:rPr lang="en-US" sz="1400" u="none" strike="noStrike" cap="none"/>
                        <a:t>20.83%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2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The lexicon: VADER</a:t>
            </a:r>
            <a:endParaRPr lang="en-US"/>
          </a:p>
        </p:txBody>
      </p:sp>
      <p:sp>
        <p:nvSpPr>
          <p:cNvPr id="188" name="Google Shape;188;p12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Noto Sans Symbols"/>
              <a:buChar char="⮚"/>
            </a:pPr>
            <a:r>
              <a:rPr lang="en-US" b="1">
                <a:solidFill>
                  <a:srgbClr val="00B0F0"/>
                </a:solidFill>
              </a:rPr>
              <a:t>V</a:t>
            </a:r>
            <a:r>
              <a:rPr lang="en-US"/>
              <a:t>alence </a:t>
            </a:r>
            <a:r>
              <a:rPr lang="en-US" b="1">
                <a:solidFill>
                  <a:srgbClr val="00B0F0"/>
                </a:solidFill>
              </a:rPr>
              <a:t>A</a:t>
            </a:r>
            <a:r>
              <a:rPr lang="en-US"/>
              <a:t>ware </a:t>
            </a:r>
            <a:r>
              <a:rPr lang="en-US" b="1">
                <a:solidFill>
                  <a:srgbClr val="00B0F0"/>
                </a:solidFill>
              </a:rPr>
              <a:t>D</a:t>
            </a:r>
            <a:r>
              <a:rPr lang="en-US"/>
              <a:t>ictionary and s</a:t>
            </a:r>
            <a:r>
              <a:rPr lang="en-US" b="1">
                <a:solidFill>
                  <a:srgbClr val="00B0F0"/>
                </a:solidFill>
              </a:rPr>
              <a:t>E</a:t>
            </a:r>
            <a:r>
              <a:rPr lang="en-US"/>
              <a:t>ntiment </a:t>
            </a:r>
            <a:r>
              <a:rPr lang="en-US" b="1">
                <a:solidFill>
                  <a:srgbClr val="00B0F0"/>
                </a:solidFill>
              </a:rPr>
              <a:t>R</a:t>
            </a:r>
            <a:r>
              <a:rPr lang="en-US"/>
              <a:t>easoner (VADER) 	</a:t>
            </a:r>
            <a:r>
              <a:rPr lang="en-US" u="sng">
                <a:solidFill>
                  <a:schemeClr val="hlink"/>
                </a:solidFill>
                <a:hlinkClick r:id="rId1"/>
              </a:rPr>
              <a:t>https://github.com/cjhutto/vaderSentiment</a:t>
            </a:r>
            <a:endParaRPr lang="en-US" u="sng">
              <a:solidFill>
                <a:schemeClr val="hlink"/>
              </a:solidFill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Noto Sans Symbols"/>
              <a:buNone/>
            </a:p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/>
              <a:t>	it can get sentiment value </a:t>
            </a:r>
            <a:endParaRPr lang="en-US"/>
          </a:p>
          <a:p>
            <a:pPr marL="457200" lvl="1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	from </a:t>
            </a:r>
            <a:r>
              <a:rPr lang="en-US" b="1"/>
              <a:t>"[–4]</a:t>
            </a:r>
            <a:r>
              <a:rPr lang="en-US"/>
              <a:t> </a:t>
            </a:r>
            <a:r>
              <a:rPr lang="en-US">
                <a:solidFill>
                  <a:srgbClr val="C55A11"/>
                </a:solidFill>
              </a:rPr>
              <a:t>Extremely Negative</a:t>
            </a:r>
            <a:r>
              <a:rPr lang="en-US"/>
              <a:t>" to </a:t>
            </a:r>
            <a:endParaRPr lang="en-US"/>
          </a:p>
          <a:p>
            <a:pPr marL="457200" lvl="1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b="1"/>
              <a:t>	"[4]</a:t>
            </a:r>
            <a:r>
              <a:rPr lang="en-US"/>
              <a:t> </a:t>
            </a:r>
            <a:r>
              <a:rPr lang="en-US">
                <a:solidFill>
                  <a:srgbClr val="00B050"/>
                </a:solidFill>
              </a:rPr>
              <a:t>Extremely Positive</a:t>
            </a:r>
            <a:r>
              <a:rPr lang="en-US"/>
              <a:t>", </a:t>
            </a:r>
            <a:endParaRPr lang="en-US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/>
              <a:t>	with allowance for “</a:t>
            </a:r>
            <a:r>
              <a:rPr lang="en-US" b="1"/>
              <a:t>[0]</a:t>
            </a:r>
            <a:r>
              <a:rPr lang="en-US"/>
              <a:t> </a:t>
            </a:r>
            <a:r>
              <a:rPr lang="en-US">
                <a:solidFill>
                  <a:srgbClr val="2F5496"/>
                </a:solidFill>
              </a:rPr>
              <a:t>Neutral</a:t>
            </a:r>
            <a:r>
              <a:rPr lang="en-US"/>
              <a:t>”. </a:t>
            </a:r>
            <a:endParaRPr lang="en-US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/>
              <a:t>And we will make it simple as a binary labels.</a:t>
            </a:r>
            <a:endParaRPr lang="en-US"/>
          </a:p>
        </p:txBody>
      </p:sp>
      <p:sp>
        <p:nvSpPr>
          <p:cNvPr id="189" name="Google Shape;189;p1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90" name="Google Shape;190;p12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5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Method(s)</a:t>
            </a:r>
            <a:endParaRPr lang="en-US"/>
          </a:p>
        </p:txBody>
      </p:sp>
      <p:sp>
        <p:nvSpPr>
          <p:cNvPr id="196" name="Google Shape;196;p15"/>
          <p:cNvSpPr txBox="1"/>
          <p:nvPr>
            <p:ph type="body" idx="1"/>
          </p:nvPr>
        </p:nvSpPr>
        <p:spPr>
          <a:xfrm>
            <a:off x="5443855" y="295275"/>
            <a:ext cx="4488180" cy="606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rPr lang="en-US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TF-IDF + LinearSVC</a:t>
            </a:r>
            <a:endParaRPr b="1">
              <a:solidFill>
                <a:srgbClr val="C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7" name="Google Shape;197;p1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98" name="Google Shape;198;p15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9" name="Google Shape;199;p15"/>
          <p:cNvSpPr txBox="1"/>
          <p:nvPr/>
        </p:nvSpPr>
        <p:spPr>
          <a:xfrm>
            <a:off x="405130" y="1927860"/>
            <a:ext cx="5581650" cy="4154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Noto Sans Symbols"/>
              <a:buChar char="⮚"/>
            </a:pPr>
            <a:r>
              <a:rPr lang="en-US" sz="19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TF (Term Frequency)</a:t>
            </a:r>
            <a:r>
              <a:rPr lang="en-US"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: </a:t>
            </a:r>
            <a:r>
              <a:rPr lang="en-US" sz="19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how often</a:t>
            </a:r>
            <a:r>
              <a:rPr lang="en-US"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a word appears in this review</a:t>
            </a:r>
            <a:endParaRPr sz="19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None/>
            </a:pPr>
            <a:endParaRPr sz="19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Noto Sans Symbols"/>
              <a:buChar char="⮚"/>
            </a:pPr>
            <a:r>
              <a:rPr lang="en-US" sz="19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IDF (Inverse Document Frequency)</a:t>
            </a:r>
            <a:r>
              <a:rPr lang="en-US"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: </a:t>
            </a:r>
            <a:r>
              <a:rPr lang="en-US" sz="19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how rare</a:t>
            </a:r>
            <a:r>
              <a:rPr lang="en-US"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the word is across all reviews</a:t>
            </a:r>
            <a:endParaRPr sz="19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None/>
            </a:pPr>
            <a:endParaRPr sz="19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⮚"/>
            </a:pPr>
            <a:r>
              <a:rPr lang="en-US" sz="15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Result:</a:t>
            </a:r>
            <a:r>
              <a:rPr lang="en-US" sz="15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emotional words like "masterpiece" or "awful" get high scores; common words like "the" get near zero</a:t>
            </a:r>
            <a:endParaRPr sz="15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0" name="Google Shape;200;p15"/>
          <p:cNvSpPr txBox="1"/>
          <p:nvPr/>
        </p:nvSpPr>
        <p:spPr>
          <a:xfrm>
            <a:off x="946785" y="1322070"/>
            <a:ext cx="5121275" cy="60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None/>
            </a:pPr>
            <a:r>
              <a:rPr lang="en-US" sz="2000" b="1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TF-IDF: From Text to Features</a:t>
            </a:r>
            <a:endParaRPr sz="2000" b="1" i="0" u="none" strike="noStrike" cap="none">
              <a:solidFill>
                <a:schemeClr val="accen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chemeClr val="accent4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chemeClr val="accent4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>
            <a:off x="7836535" y="1293495"/>
            <a:ext cx="2480310" cy="398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Design Choices</a:t>
            </a:r>
            <a:endParaRPr sz="2000" b="1" i="0" u="none" strike="noStrike" cap="none">
              <a:solidFill>
                <a:schemeClr val="accen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2" name="Google Shape;202;p15"/>
          <p:cNvSpPr txBox="1"/>
          <p:nvPr/>
        </p:nvSpPr>
        <p:spPr>
          <a:xfrm>
            <a:off x="6655435" y="2010410"/>
            <a:ext cx="5455920" cy="3778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oto Sans Symbols"/>
              <a:buChar char="●"/>
            </a:pPr>
            <a:r>
              <a:rPr lang="en-US" sz="1600" b="1" i="0" u="none" strike="noStrike" cap="none">
                <a:solidFill>
                  <a:srgbClr val="000000"/>
                </a:solidFill>
                <a:highlight>
                  <a:srgbClr val="C0C0C0"/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sublinear_tf = True</a:t>
            </a:r>
            <a:br>
              <a:rPr lang="en-US" sz="16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With it: dampens high-frequency word dominance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oto Sans Symbols"/>
              <a:buChar char="●"/>
            </a:pPr>
            <a:r>
              <a:rPr lang="en-US" sz="1600" b="1" i="0" u="none" strike="noStrike" cap="none">
                <a:solidFill>
                  <a:srgbClr val="000000"/>
                </a:solidFill>
                <a:highlight>
                  <a:srgbClr val="C0C0C0"/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ngram_range = (1, 2)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: </a:t>
            </a:r>
            <a:br>
              <a:rPr lang="en-US" sz="16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unigram + bigram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oto Sans Symbols"/>
              <a:buChar char="●"/>
            </a:pPr>
            <a:r>
              <a:rPr lang="en-US" sz="1600" b="1" i="0" u="none" strike="noStrike" cap="none">
                <a:solidFill>
                  <a:srgbClr val="000000"/>
                </a:solidFill>
                <a:highlight>
                  <a:srgbClr val="C0C0C0"/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max_features = 50,000; min_df = 2</a:t>
            </a:r>
            <a:br>
              <a:rPr lang="en-US" sz="16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Only keep features appearing in at least 2 reviews to reduce noise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6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Method(s)</a:t>
            </a:r>
            <a:endParaRPr lang="en-US"/>
          </a:p>
        </p:txBody>
      </p:sp>
      <p:sp>
        <p:nvSpPr>
          <p:cNvPr id="208" name="Google Shape;208;p16"/>
          <p:cNvSpPr txBox="1"/>
          <p:nvPr>
            <p:ph type="body" idx="1"/>
          </p:nvPr>
        </p:nvSpPr>
        <p:spPr>
          <a:xfrm>
            <a:off x="5443855" y="295275"/>
            <a:ext cx="4488180" cy="606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rPr lang="en-US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TF-IDF + LinearSVC</a:t>
            </a:r>
            <a:endParaRPr b="1">
              <a:solidFill>
                <a:srgbClr val="C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9" name="Google Shape;209;p16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10" name="Google Shape;210;p16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1" name="Google Shape;211;p16"/>
          <p:cNvSpPr txBox="1"/>
          <p:nvPr/>
        </p:nvSpPr>
        <p:spPr>
          <a:xfrm>
            <a:off x="427990" y="1999615"/>
            <a:ext cx="5765800" cy="4154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Noto Sans Symbols"/>
              <a:buChar char="⮚"/>
            </a:pPr>
            <a:r>
              <a:rPr lang="en-US" sz="19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Finds a hyperplane in 50,000-dimensional space that separates classes with the </a:t>
            </a:r>
            <a:r>
              <a:rPr lang="en-US" sz="19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maximum margin</a:t>
            </a:r>
            <a:endParaRPr sz="19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None/>
            </a:pPr>
            <a:endParaRPr sz="19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⮚"/>
            </a:pPr>
            <a:r>
              <a:rPr lang="en-US" sz="15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The closest points to the boundary are called </a:t>
            </a:r>
            <a:r>
              <a:rPr lang="en-US" sz="15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support vectors</a:t>
            </a:r>
            <a:r>
              <a:rPr lang="en-US" sz="15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— they define the boundary</a:t>
            </a:r>
            <a:endParaRPr sz="15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5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⮚"/>
            </a:pPr>
            <a:r>
              <a:rPr lang="en-US" sz="15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For 3-class classification: </a:t>
            </a:r>
            <a:r>
              <a:rPr lang="en-US" sz="15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One-vs-Rest strategy</a:t>
            </a:r>
            <a:r>
              <a:rPr lang="en-US" sz="15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— trains 3 binary classifiers, takes the highest score</a:t>
            </a:r>
            <a:endParaRPr sz="15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2" name="Google Shape;212;p16"/>
          <p:cNvSpPr txBox="1"/>
          <p:nvPr/>
        </p:nvSpPr>
        <p:spPr>
          <a:xfrm>
            <a:off x="427990" y="1322070"/>
            <a:ext cx="6087745" cy="60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None/>
            </a:pPr>
            <a:r>
              <a:rPr lang="en-US" sz="2000" b="1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LinearSVC: Learning the Decision Boundary</a:t>
            </a:r>
            <a:endParaRPr sz="2000" b="1" i="0" u="none" strike="noStrike" cap="none">
              <a:solidFill>
                <a:schemeClr val="accen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chemeClr val="accent4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chemeClr val="accent4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3" name="Google Shape;213;p16"/>
          <p:cNvSpPr txBox="1"/>
          <p:nvPr/>
        </p:nvSpPr>
        <p:spPr>
          <a:xfrm>
            <a:off x="7836535" y="1293495"/>
            <a:ext cx="3423920" cy="398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Default Configuration</a:t>
            </a:r>
            <a:endParaRPr sz="2000" b="1" i="0" u="none" strike="noStrike" cap="none">
              <a:solidFill>
                <a:schemeClr val="accen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4" name="Google Shape;214;p16"/>
          <p:cNvSpPr txBox="1"/>
          <p:nvPr/>
        </p:nvSpPr>
        <p:spPr>
          <a:xfrm>
            <a:off x="7446010" y="2240280"/>
            <a:ext cx="4258310" cy="1938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oto Sans Symbols"/>
              <a:buChar char="●"/>
            </a:pPr>
            <a:r>
              <a:rPr lang="en-US" sz="1600" b="1" i="0" u="none" strike="noStrike" cap="none">
                <a:solidFill>
                  <a:srgbClr val="000000"/>
                </a:solidFill>
                <a:highlight>
                  <a:srgbClr val="C0C0C0"/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 = 1.0</a:t>
            </a:r>
            <a:br>
              <a:rPr lang="en-US" sz="16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6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balanced regularization, neither too strict nor too loose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oto Sans Symbols"/>
              <a:buChar char="●"/>
            </a:pPr>
            <a:r>
              <a:rPr lang="en-US" sz="1600" b="1" i="0" u="none" strike="noStrike" cap="none">
                <a:solidFill>
                  <a:srgbClr val="000000"/>
                </a:solidFill>
                <a:highlight>
                  <a:srgbClr val="C0C0C0"/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class_weight = None</a:t>
            </a:r>
            <a:endParaRPr sz="1600" b="1" i="0" u="none" strike="noStrike" cap="none">
              <a:solidFill>
                <a:srgbClr val="000000"/>
              </a:solidFill>
              <a:highlight>
                <a:srgbClr val="C0C0C0"/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Noto Sans Symbols"/>
              <a:buNone/>
            </a:pPr>
            <a:endParaRPr sz="1600" b="1" i="0" u="none" strike="noStrike" cap="none">
              <a:solidFill>
                <a:srgbClr val="000000"/>
              </a:solidFill>
              <a:highlight>
                <a:srgbClr val="C0C0C0"/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7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Method(s)</a:t>
            </a:r>
            <a:endParaRPr lang="en-US"/>
          </a:p>
        </p:txBody>
      </p:sp>
      <p:sp>
        <p:nvSpPr>
          <p:cNvPr id="220" name="Google Shape;220;p17"/>
          <p:cNvSpPr txBox="1"/>
          <p:nvPr>
            <p:ph type="body" idx="1"/>
          </p:nvPr>
        </p:nvSpPr>
        <p:spPr>
          <a:xfrm>
            <a:off x="6654165" y="295275"/>
            <a:ext cx="2290445" cy="606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rPr lang="en-US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BERT</a:t>
            </a:r>
            <a:endParaRPr b="1">
              <a:solidFill>
                <a:srgbClr val="C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21" name="Google Shape;221;p17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22" name="Google Shape;222;p17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23" name="Google Shape;223;p17"/>
          <p:cNvSpPr txBox="1"/>
          <p:nvPr/>
        </p:nvSpPr>
        <p:spPr>
          <a:xfrm>
            <a:off x="784860" y="1134110"/>
            <a:ext cx="10908030" cy="493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3048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Noto Sans Symbols"/>
              <a:buChar char="⮚"/>
            </a:pPr>
            <a:r>
              <a:rPr lang="en-US" sz="17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Pre-training:</a:t>
            </a: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b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BERT starts from 3.3 billion words of </a:t>
            </a:r>
            <a:r>
              <a:rPr lang="en-US" sz="17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pre-training</a:t>
            </a: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— unlike SVM which starts from zero, it </a:t>
            </a:r>
            <a:r>
              <a:rPr lang="en-US" sz="17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already </a:t>
            </a: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understands English grammar, semantics, and context</a:t>
            </a:r>
            <a:endParaRPr sz="1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3048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Noto Sans Symbols"/>
              <a:buChar char="⮚"/>
            </a:pPr>
            <a:r>
              <a:rPr lang="en-US" sz="17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Bidirectional attention: </a:t>
            </a:r>
            <a:br>
              <a:rPr lang="en-US" sz="17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BERT reads the </a:t>
            </a:r>
            <a:r>
              <a:rPr lang="en-US" sz="17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whole sentence</a:t>
            </a: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at once — every word attends to every other word simultaneously</a:t>
            </a:r>
            <a:endParaRPr sz="1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196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3048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Noto Sans Symbols"/>
              <a:buChar char="⮚"/>
            </a:pPr>
            <a:r>
              <a:rPr lang="en-US" sz="17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[CLS] token:</a:t>
            </a: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b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Special token added at the start, summarizes the whole sentence into a </a:t>
            </a:r>
            <a:r>
              <a:rPr lang="en-US" sz="17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768-dim vector</a:t>
            </a: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after 12 layers.</a:t>
            </a:r>
            <a:b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This vector → linear classification head → 3 class logits → softmax → prediction</a:t>
            </a:r>
            <a:endParaRPr sz="1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196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3048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Noto Sans Symbols"/>
              <a:buChar char="⮚"/>
            </a:pPr>
            <a:r>
              <a:rPr lang="en-US" sz="17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Fine-tuning: </a:t>
            </a:r>
            <a:b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Classification head is randomly initialized → before fine-tuning, predictions are near-random → fine-tuning </a:t>
            </a:r>
            <a:r>
              <a:rPr lang="en-US" sz="17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adjusts all 110M parameters</a:t>
            </a:r>
            <a:r>
              <a:rPr lang="en-US" sz="1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toward this specific task</a:t>
            </a:r>
            <a:endParaRPr sz="1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Method(s)</a:t>
            </a:r>
            <a:endParaRPr lang="en-US"/>
          </a:p>
        </p:txBody>
      </p:sp>
      <p:sp>
        <p:nvSpPr>
          <p:cNvPr id="229" name="Google Shape;229;p18"/>
          <p:cNvSpPr txBox="1"/>
          <p:nvPr>
            <p:ph type="body" idx="1"/>
          </p:nvPr>
        </p:nvSpPr>
        <p:spPr>
          <a:xfrm>
            <a:off x="6654165" y="295275"/>
            <a:ext cx="2290445" cy="606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rPr lang="en-US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BERT</a:t>
            </a:r>
            <a:endParaRPr b="1">
              <a:solidFill>
                <a:srgbClr val="C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30" name="Google Shape;230;p1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31" name="Google Shape;231;p18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Jingying Gao (zxxxxxxx)</a:t>
            </a: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32" name="Google Shape;232;p18"/>
          <p:cNvSpPr txBox="1"/>
          <p:nvPr/>
        </p:nvSpPr>
        <p:spPr>
          <a:xfrm>
            <a:off x="1095375" y="1979930"/>
            <a:ext cx="3543935" cy="3241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MAX_LEN                 = 128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BATCH_SIZE            = 16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EPOCHS                   = 3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LR                             = 2e-5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WARMUP_RATIO     = 0.1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VAL_RATIO               = 0.1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RANDOM_SEED       = 42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33" name="Google Shape;233;p18"/>
          <p:cNvSpPr txBox="1"/>
          <p:nvPr/>
        </p:nvSpPr>
        <p:spPr>
          <a:xfrm>
            <a:off x="427990" y="1322070"/>
            <a:ext cx="6087745" cy="60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r>
              <a:rPr lang="en-US" sz="1400" b="1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Fine-tuning Strategy: Setup and Best Checkpoint</a:t>
            </a:r>
            <a:endParaRPr sz="1400" b="1" i="0" u="none" strike="noStrike" cap="none">
              <a:solidFill>
                <a:schemeClr val="accen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1" i="0" u="none" strike="noStrike" cap="none">
              <a:solidFill>
                <a:schemeClr val="accen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234" name="Google Shape;234;p18"/>
          <p:cNvGraphicFramePr/>
          <p:nvPr/>
        </p:nvGraphicFramePr>
        <p:xfrm>
          <a:off x="5962015" y="1997710"/>
          <a:ext cx="5577200" cy="3000000"/>
        </p:xfrm>
        <a:graphic>
          <a:graphicData uri="http://schemas.openxmlformats.org/drawingml/2006/table">
            <a:tbl>
              <a:tblPr firstRow="1" bandRow="1">
                <a:noFill/>
                <a:tableStyleId>{E7A8C6B6-EA0C-41B6-8343-B60452A99842}</a:tableStyleId>
              </a:tblPr>
              <a:tblGrid>
                <a:gridCol w="1268725"/>
                <a:gridCol w="2165975"/>
                <a:gridCol w="2142500"/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Epoch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Val Accuracy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Val Macro-F1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1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0.888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0.692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2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0.898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0.713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3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0.885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 panose="020B0604020202020204"/>
                        <a:buNone/>
                      </a:pPr>
                      <a:r>
                        <a:rPr lang="en-US" sz="1600" u="none" strike="noStrike" cap="none"/>
                        <a:t>0.742</a:t>
                      </a:r>
                      <a:endParaRPr sz="1600" u="none" strike="noStrike" cap="none"/>
                    </a:p>
                  </a:txBody>
                  <a:tcPr marL="91450" marR="91450" marT="45725" marB="45725"/>
                </a:tc>
              </a:tr>
            </a:tbl>
          </a:graphicData>
        </a:graphic>
      </p:graphicFrame>
      <p:sp>
        <p:nvSpPr>
          <p:cNvPr id="235" name="Google Shape;235;p18"/>
          <p:cNvSpPr txBox="1"/>
          <p:nvPr/>
        </p:nvSpPr>
        <p:spPr>
          <a:xfrm>
            <a:off x="5828030" y="3992880"/>
            <a:ext cx="5845175" cy="176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Epoch 3: Accuracy slightly drops but Macro-F1 keeps rising → model improves on minority class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⮚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Why </a:t>
            </a:r>
            <a:r>
              <a:rPr lang="en-US" sz="14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Macro-F1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over Accuracy: with class </a:t>
            </a:r>
            <a:r>
              <a:rPr lang="en-US" sz="1400" b="0" i="0" u="none" strike="noStrike" cap="none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imbalance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, accuracy can be high by ignoring neutral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Method(s)</a:t>
            </a:r>
            <a:endParaRPr lang="en-US"/>
          </a:p>
        </p:txBody>
      </p:sp>
      <p:sp>
        <p:nvSpPr>
          <p:cNvPr id="241" name="Google Shape;241;p19"/>
          <p:cNvSpPr txBox="1"/>
          <p:nvPr>
            <p:ph type="body" idx="1"/>
          </p:nvPr>
        </p:nvSpPr>
        <p:spPr>
          <a:xfrm>
            <a:off x="231648" y="975360"/>
            <a:ext cx="12042414" cy="2998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b="1"/>
              <a:t>Qwen3 Supervised Fine-tuning</a:t>
            </a:r>
            <a:endParaRPr b="1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b="1"/>
              <a:t>Overall workflow:</a:t>
            </a:r>
            <a:endParaRPr b="1"/>
          </a:p>
          <a:p>
            <a:pPr marL="9652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Font typeface="Arial" panose="020B0604020202020204"/>
              <a:buAutoNum type="arabicPeriod"/>
            </a:pPr>
            <a:r>
              <a:rPr lang="en-US" sz="2800"/>
              <a:t>Built the Qwen supervised fine-tuning pipeline</a:t>
            </a:r>
            <a:endParaRPr sz="2800"/>
          </a:p>
          <a:p>
            <a:pPr marL="9652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Font typeface="Arial" panose="020B0604020202020204"/>
              <a:buAutoNum type="arabicPeriod"/>
            </a:pPr>
            <a:r>
              <a:rPr lang="en-US" sz="2800"/>
              <a:t>Trained Qwen3-0.6B / 1.7B / 4.0B with LoRA to study scaling trends</a:t>
            </a:r>
            <a:endParaRPr sz="2800"/>
          </a:p>
          <a:p>
            <a:pPr marL="9652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Font typeface="Arial" panose="020B0604020202020204"/>
              <a:buAutoNum type="arabicPeriod"/>
            </a:pPr>
            <a:r>
              <a:rPr lang="en-US" sz="2800"/>
              <a:t>Compared fine-tuned and non-fine-tuned performance</a:t>
            </a:r>
            <a:endParaRPr sz="2400"/>
          </a:p>
        </p:txBody>
      </p:sp>
      <p:sp>
        <p:nvSpPr>
          <p:cNvPr id="242" name="Google Shape;242;p19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43" name="Google Shape;243;p19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Kejing Wang (z5526880)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4" name="Google Shape;244;p19"/>
          <p:cNvSpPr txBox="1"/>
          <p:nvPr/>
        </p:nvSpPr>
        <p:spPr>
          <a:xfrm>
            <a:off x="298939" y="4278239"/>
            <a:ext cx="1123656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Key finding:</a:t>
            </a:r>
            <a:r>
              <a:rPr lang="en-US" sz="20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endParaRPr sz="20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AutoNum type="arabicPeriod"/>
            </a:pPr>
            <a:r>
              <a:rPr lang="en-US" sz="20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Fine-tuning consistently improved all Qwen variants; </a:t>
            </a:r>
            <a:endParaRPr sz="20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anose="020B0604020202020204"/>
              <a:buAutoNum type="arabicPeriod"/>
            </a:pPr>
            <a:r>
              <a:rPr lang="en-US" sz="20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Qwen3-4.0B achieved the best final performance, while Qwen3-1.7B showed the largest gain.</a:t>
            </a:r>
            <a:endParaRPr sz="20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1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Method(s)</a:t>
            </a:r>
            <a:endParaRPr lang="en-US"/>
          </a:p>
        </p:txBody>
      </p:sp>
      <p:sp>
        <p:nvSpPr>
          <p:cNvPr id="250" name="Google Shape;250;p21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b="1"/>
              <a:t>Qwen3 Supervised Fine-tuning -- </a:t>
            </a:r>
            <a:r>
              <a:rPr lang="en-US" sz="2400" b="1"/>
              <a:t>Dataset construction</a:t>
            </a:r>
            <a:endParaRPr sz="2400" b="1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endParaRPr sz="2400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sz="2400" b="1"/>
              <a:t>   </a:t>
            </a:r>
            <a:endParaRPr sz="2400"/>
          </a:p>
        </p:txBody>
      </p:sp>
      <p:sp>
        <p:nvSpPr>
          <p:cNvPr id="251" name="Google Shape;251;p2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52" name="Google Shape;252;p21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Kejing Wang (z5526880)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53" name="Google Shape;253;p2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60391" y="1814196"/>
            <a:ext cx="10168657" cy="3750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0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Method(s)</a:t>
            </a:r>
            <a:endParaRPr lang="en-US"/>
          </a:p>
        </p:txBody>
      </p:sp>
      <p:sp>
        <p:nvSpPr>
          <p:cNvPr id="259" name="Google Shape;259;p20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b="1"/>
              <a:t>Qwen3 Supervised Fine-tuning -- Motivation</a:t>
            </a:r>
            <a:endParaRPr b="1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endParaRPr b="1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b="1"/>
              <a:t>Why </a:t>
            </a:r>
            <a:r>
              <a:rPr lang="en-US" b="1"/>
              <a:t>CoT</a:t>
            </a:r>
            <a:r>
              <a:rPr lang="en-US" b="1"/>
              <a:t>?</a:t>
            </a:r>
            <a:endParaRPr b="1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endParaRPr b="1"/>
          </a:p>
          <a:p>
            <a:pPr marL="5080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Arial" panose="020B0604020202020204"/>
              <a:buAutoNum type="arabicPeriod"/>
            </a:pPr>
            <a:r>
              <a:rPr lang="en-US" sz="2400"/>
              <a:t>Easy to analysis.</a:t>
            </a:r>
            <a:endParaRPr sz="2400"/>
          </a:p>
          <a:p>
            <a:pPr marL="5080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Arial" panose="020B0604020202020204"/>
              <a:buAutoNum type="arabicPeriod"/>
            </a:pPr>
            <a:r>
              <a:rPr lang="en-US" sz="2400"/>
              <a:t>I</a:t>
            </a:r>
            <a:r>
              <a:rPr lang="en-US" sz="2400"/>
              <a:t>mprove the accuracy of the model’s responses. </a:t>
            </a:r>
            <a:endParaRPr sz="2400"/>
          </a:p>
          <a:p>
            <a:pPr marL="457200" lvl="0" indent="-406400" algn="l" rtl="0"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 sz="2400"/>
              <a:t>Better performance in</a:t>
            </a:r>
            <a:r>
              <a:rPr lang="en-US" sz="2400"/>
              <a:t> complex judgment scenarios.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Arial" panose="020B0604020202020204"/>
              <a:buNone/>
            </a:pPr>
            <a:endParaRPr sz="2400"/>
          </a:p>
        </p:txBody>
      </p:sp>
      <p:sp>
        <p:nvSpPr>
          <p:cNvPr id="260" name="Google Shape;260;p20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61" name="Google Shape;261;p20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</a:t>
            </a:r>
            <a:r>
              <a:rPr lang="en-US" sz="1100">
                <a:solidFill>
                  <a:schemeClr val="dk1"/>
                </a:solidFill>
              </a:rPr>
              <a:t>Kejing Wang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(z</a:t>
            </a:r>
            <a:r>
              <a:rPr lang="en-US" sz="1100">
                <a:solidFill>
                  <a:schemeClr val="dk1"/>
                </a:solidFill>
              </a:rPr>
              <a:t>5526880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)</a:t>
            </a: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2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/>
              <a:t>Method(s)</a:t>
            </a:r>
            <a:endParaRPr lang="en-US"/>
          </a:p>
        </p:txBody>
      </p:sp>
      <p:sp>
        <p:nvSpPr>
          <p:cNvPr id="267" name="Google Shape;267;p22"/>
          <p:cNvSpPr txBox="1"/>
          <p:nvPr>
            <p:ph type="body" idx="1"/>
          </p:nvPr>
        </p:nvSpPr>
        <p:spPr>
          <a:xfrm>
            <a:off x="231648" y="975360"/>
            <a:ext cx="11631168" cy="5035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b="1"/>
              <a:t>Qwen3 Supervised Fine-tuning -- </a:t>
            </a:r>
            <a:r>
              <a:rPr lang="en-US" sz="2400" b="1"/>
              <a:t>Experients setting</a:t>
            </a:r>
            <a:endParaRPr sz="2400"/>
          </a:p>
          <a:p>
            <a:pPr marL="508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rPr lang="en-US" sz="2400" b="1"/>
              <a:t>   </a:t>
            </a:r>
            <a:endParaRPr sz="2400"/>
          </a:p>
        </p:txBody>
      </p:sp>
      <p:sp>
        <p:nvSpPr>
          <p:cNvPr id="268" name="Google Shape;268;p2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69" name="Google Shape;269;p22"/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Kejing Wang (z5526880)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70" name="Google Shape;270;p2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58758" y="1814195"/>
            <a:ext cx="7851842" cy="41964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 altLang="zh-CN"/>
              <a:t>Evaluation Metrics</a:t>
            </a:r>
            <a:endParaRPr lang="en-US" altLang="zh-CN"/>
          </a:p>
        </p:txBody>
      </p:sp>
      <p:sp>
        <p:nvSpPr>
          <p:cNvPr id="159" name="Google Shape;159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AU"/>
            </a:fld>
            <a:endParaRPr lang="en-AU"/>
          </a:p>
        </p:txBody>
      </p:sp>
      <p:sp>
        <p:nvSpPr>
          <p:cNvPr id="160" name="Google Shape;160;p8"/>
          <p:cNvSpPr txBox="1"/>
          <p:nvPr/>
        </p:nvSpPr>
        <p:spPr>
          <a:xfrm>
            <a:off x="119743" y="6225545"/>
            <a:ext cx="7326086" cy="25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Weiye Li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(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z5597115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)</a:t>
            </a:r>
            <a:endParaRPr lang="en-AU" sz="110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" name="Google Shape;181;g3735f9dc692_2_9"/>
          <p:cNvSpPr txBox="1"/>
          <p:nvPr/>
        </p:nvSpPr>
        <p:spPr>
          <a:xfrm>
            <a:off x="901065" y="909955"/>
            <a:ext cx="10596245" cy="3401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Primary Metric: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Macro-F1 – equal weight for all classes; measures balanced performance; key for evaluating neutral class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Supporting Metrics: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Weighted-F1 – reflects real data distribution; helps identify class bias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Accuracy – measures overall correctness; may be influenced by majority classes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Diagnostic Metrics: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Macro-Precision – evaluates prediction correctness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Macro-Recall – evaluates coverage of true samples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en-US" sz="1550">
                <a:solidFill>
                  <a:schemeClr val="dk1"/>
                </a:solidFill>
                <a:sym typeface="+mn-ea"/>
              </a:rPr>
              <a:t>→</a:t>
            </a:r>
            <a:r>
              <a:rPr lang="en-US" altLang="zh-CN" sz="1550">
                <a:solidFill>
                  <a:schemeClr val="dk1"/>
                </a:solidFill>
                <a:sym typeface="+mn-ea"/>
              </a:rPr>
              <a:t> used to analyze model behavior and class preference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20065" y="4410710"/>
            <a:ext cx="2173605" cy="487045"/>
          </a:xfrm>
          <a:prstGeom prst="roundRect">
            <a:avLst>
              <a:gd name="adj" fmla="val 16667"/>
            </a:avLst>
          </a:prstGeom>
          <a:solidFill>
            <a:srgbClr val="FFDC00"/>
          </a:solidFill>
          <a:ln>
            <a:noFill/>
          </a:ln>
        </p:spPr>
        <p:txBody>
          <a:bodyPr spcFirstLastPara="1" wrap="square" lIns="79075" tIns="79075" rIns="79075" bIns="790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/>
              <a:t>Key</a:t>
            </a:r>
            <a:r>
              <a:rPr lang="en-US" altLang="zh-CN" sz="1555" b="1"/>
              <a:t> </a:t>
            </a:r>
            <a:r>
              <a:rPr lang="en-US" altLang="zh-CN" sz="2000" b="1"/>
              <a:t>Insights</a:t>
            </a:r>
            <a:endParaRPr lang="en-US" altLang="zh-CN" sz="1555" b="1"/>
          </a:p>
        </p:txBody>
      </p:sp>
      <p:pic>
        <p:nvPicPr>
          <p:cNvPr id="125" name="Google Shape;125;p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96324" y="4394130"/>
            <a:ext cx="486151" cy="48701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g3735f9dc692_2_9"/>
          <p:cNvSpPr txBox="1"/>
          <p:nvPr/>
        </p:nvSpPr>
        <p:spPr>
          <a:xfrm>
            <a:off x="930910" y="4926965"/>
            <a:ext cx="10507980" cy="896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</a:rPr>
              <a:t>Given the difficulty of neutral classification, Macro-F1 is essential to reveal true model performance beyond majority classes.</a:t>
            </a:r>
            <a:endParaRPr lang="en-US" altLang="zh-CN" sz="1550">
              <a:solidFill>
                <a:schemeClr val="dk1"/>
              </a:solidFill>
            </a:endParaRPr>
          </a:p>
        </p:txBody>
      </p:sp>
      <p:sp>
        <p:nvSpPr>
          <p:cNvPr id="1" name="文本框 0"/>
          <p:cNvSpPr txBox="1"/>
          <p:nvPr/>
        </p:nvSpPr>
        <p:spPr>
          <a:xfrm>
            <a:off x="3556000" y="326040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 b="0"/>
              <a:t> </a:t>
            </a:r>
            <a:endParaRPr lang="en-US" altLang="zh-CN" sz="1600" b="0"/>
          </a:p>
        </p:txBody>
      </p:sp>
      <p:sp>
        <p:nvSpPr>
          <p:cNvPr id="3" name="文本框 2"/>
          <p:cNvSpPr txBox="1"/>
          <p:nvPr/>
        </p:nvSpPr>
        <p:spPr>
          <a:xfrm>
            <a:off x="3556000" y="326040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 b="0"/>
              <a:t> </a:t>
            </a:r>
            <a:endParaRPr lang="en-US" altLang="zh-CN" sz="1600" b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 altLang="zh-CN"/>
              <a:t>Experiments and </a:t>
            </a:r>
            <a:r>
              <a:rPr lang="en-AU"/>
              <a:t>Results</a:t>
            </a:r>
            <a:endParaRPr lang="en-AU"/>
          </a:p>
        </p:txBody>
      </p:sp>
      <p:sp>
        <p:nvSpPr>
          <p:cNvPr id="159" name="Google Shape;159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AU"/>
            </a:fld>
            <a:endParaRPr lang="en-AU"/>
          </a:p>
        </p:txBody>
      </p:sp>
      <p:sp>
        <p:nvSpPr>
          <p:cNvPr id="160" name="Google Shape;160;p8"/>
          <p:cNvSpPr txBox="1"/>
          <p:nvPr/>
        </p:nvSpPr>
        <p:spPr>
          <a:xfrm>
            <a:off x="119743" y="6225545"/>
            <a:ext cx="7326086" cy="25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Weiye Li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(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z5597115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)</a:t>
            </a:r>
            <a:endParaRPr lang="en-AU" sz="110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7" name="Google Shape;217;g37338e6a47c_0_1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81000" y="1182805"/>
            <a:ext cx="494279" cy="4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18;g37338e6a47c_0_14"/>
          <p:cNvSpPr txBox="1"/>
          <p:nvPr/>
        </p:nvSpPr>
        <p:spPr>
          <a:xfrm>
            <a:off x="875030" y="1183005"/>
            <a:ext cx="7239635" cy="48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altLang="zh-CN" sz="2000" b="1">
                <a:solidFill>
                  <a:schemeClr val="dk1"/>
                </a:solidFill>
              </a:rPr>
              <a:t>Experiments Overview</a:t>
            </a:r>
            <a:endParaRPr lang="en-US" altLang="zh-CN" sz="2000" b="1">
              <a:solidFill>
                <a:schemeClr val="dk1"/>
              </a:solidFill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1847215" y="2165985"/>
          <a:ext cx="8236585" cy="2868295"/>
        </p:xfrm>
        <a:graphic>
          <a:graphicData uri="http://schemas.openxmlformats.org/drawingml/2006/table">
            <a:tbl>
              <a:tblPr/>
              <a:tblGrid>
                <a:gridCol w="1437640"/>
                <a:gridCol w="3216910"/>
                <a:gridCol w="3582035"/>
              </a:tblGrid>
              <a:tr h="571500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Experiment</a:t>
                      </a:r>
                      <a:endParaRPr lang="en-US" altLang="zh-CN" sz="15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What we study</a:t>
                      </a:r>
                      <a:endParaRPr lang="en-US" altLang="zh-CN" sz="15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Key idea</a:t>
                      </a:r>
                      <a:endParaRPr lang="en-US" altLang="zh-CN" sz="15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2674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Overall performance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Compare different models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B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Robustness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Compare across data sources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70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Fine-tuning effect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Before vs after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520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Class-level performance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Focus on neutral class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>
                      <a:solidFill>
                        <a:srgbClr val="FFC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 altLang="zh-CN"/>
              <a:t>Experiments and </a:t>
            </a:r>
            <a:r>
              <a:rPr lang="en-AU"/>
              <a:t>Results</a:t>
            </a:r>
            <a:endParaRPr lang="en-AU"/>
          </a:p>
        </p:txBody>
      </p:sp>
      <p:sp>
        <p:nvSpPr>
          <p:cNvPr id="159" name="Google Shape;159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AU"/>
            </a:fld>
            <a:endParaRPr lang="en-AU"/>
          </a:p>
        </p:txBody>
      </p:sp>
      <p:sp>
        <p:nvSpPr>
          <p:cNvPr id="160" name="Google Shape;160;p8"/>
          <p:cNvSpPr txBox="1"/>
          <p:nvPr/>
        </p:nvSpPr>
        <p:spPr>
          <a:xfrm>
            <a:off x="119743" y="6225545"/>
            <a:ext cx="7326086" cy="25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Weiye Li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(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z5597115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)</a:t>
            </a:r>
            <a:endParaRPr lang="en-AU" sz="110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7" name="Google Shape;217;g37338e6a47c_0_1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37490" y="967540"/>
            <a:ext cx="494279" cy="4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18;g37338e6a47c_0_14"/>
          <p:cNvSpPr txBox="1"/>
          <p:nvPr/>
        </p:nvSpPr>
        <p:spPr>
          <a:xfrm>
            <a:off x="731520" y="967740"/>
            <a:ext cx="7239635" cy="48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altLang="zh-CN" sz="2000" b="1">
                <a:solidFill>
                  <a:schemeClr val="dk1"/>
                </a:solidFill>
              </a:rPr>
              <a:t>Experiment A</a:t>
            </a:r>
            <a:r>
              <a:rPr lang="en-US" altLang="zh-CN" sz="1600" b="1">
                <a:solidFill>
                  <a:schemeClr val="dk1"/>
                </a:solidFill>
              </a:rPr>
              <a:t> </a:t>
            </a:r>
            <a:r>
              <a:rPr lang="en-US" altLang="zh-CN" sz="2000" b="1">
                <a:solidFill>
                  <a:schemeClr val="dk1"/>
                </a:solidFill>
              </a:rPr>
              <a:t>: Single-Factor Augmentation</a:t>
            </a:r>
            <a:endParaRPr lang="en-US" altLang="zh-CN" sz="2000" b="1">
              <a:solidFill>
                <a:schemeClr val="dk1"/>
              </a:solidFill>
            </a:endParaRPr>
          </a:p>
        </p:txBody>
      </p:sp>
      <p:sp>
        <p:nvSpPr>
          <p:cNvPr id="181" name="Google Shape;181;g3735f9dc692_2_9"/>
          <p:cNvSpPr txBox="1"/>
          <p:nvPr/>
        </p:nvSpPr>
        <p:spPr>
          <a:xfrm>
            <a:off x="622935" y="1361440"/>
            <a:ext cx="4512310" cy="173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Objective: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0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Compare </a:t>
            </a:r>
            <a:r>
              <a:rPr lang="en-US" altLang="zh-CN" sz="1550">
                <a:solidFill>
                  <a:schemeClr val="dk1"/>
                </a:solidFill>
                <a:sym typeface="+mn-ea"/>
              </a:rPr>
              <a:t>overall performance of different models on 3-class sentiment classification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00000"/>
              </a:lnSpc>
              <a:buSzPts val="1600"/>
              <a:buChar char="●"/>
            </a:pP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0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Evaluate ability to distinguish positive, neutral, and negative sentiments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</p:txBody>
      </p:sp>
      <p:sp>
        <p:nvSpPr>
          <p:cNvPr id="1" name="Google Shape;181;g3735f9dc692_2_9"/>
          <p:cNvSpPr txBox="1"/>
          <p:nvPr/>
        </p:nvSpPr>
        <p:spPr>
          <a:xfrm>
            <a:off x="623570" y="3213100"/>
            <a:ext cx="5078095" cy="2805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Key </a:t>
            </a:r>
            <a:r>
              <a:rPr lang="en-US" altLang="zh-CN" sz="1550" b="1">
                <a:solidFill>
                  <a:schemeClr val="dk1"/>
                </a:solidFill>
                <a:sym typeface="+mn-ea"/>
              </a:rPr>
              <a:t>Findings: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</a:rPr>
              <a:t>Large performance gaps exist between model families (Qwen &gt; BERT &gt; traditional methods)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</a:rPr>
              <a:t>Models show different performance across data sources, indicating sensitivity to input variation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Performance differences arise from both model capacity and data variability, motivating further analysis......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endParaRPr lang="en-US" altLang="zh-CN" sz="1550">
              <a:solidFill>
                <a:schemeClr val="dk1"/>
              </a:solidFill>
            </a:endParaRPr>
          </a:p>
        </p:txBody>
      </p:sp>
      <p:pic>
        <p:nvPicPr>
          <p:cNvPr id="4" name="图片 3" descr="Figure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0055" y="1522095"/>
            <a:ext cx="6529705" cy="455231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 altLang="zh-CN"/>
              <a:t>Experiments and </a:t>
            </a:r>
            <a:r>
              <a:rPr lang="en-AU"/>
              <a:t>Results</a:t>
            </a:r>
            <a:endParaRPr lang="en-AU"/>
          </a:p>
        </p:txBody>
      </p:sp>
      <p:sp>
        <p:nvSpPr>
          <p:cNvPr id="159" name="Google Shape;159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AU"/>
            </a:fld>
            <a:endParaRPr lang="en-AU"/>
          </a:p>
        </p:txBody>
      </p:sp>
      <p:sp>
        <p:nvSpPr>
          <p:cNvPr id="160" name="Google Shape;160;p8"/>
          <p:cNvSpPr txBox="1"/>
          <p:nvPr/>
        </p:nvSpPr>
        <p:spPr>
          <a:xfrm>
            <a:off x="119743" y="6225545"/>
            <a:ext cx="7326086" cy="25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Weiye Li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(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z5597115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)</a:t>
            </a:r>
            <a:endParaRPr lang="en-AU" sz="110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7" name="Google Shape;217;g37338e6a47c_0_1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65735" y="895785"/>
            <a:ext cx="494279" cy="4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18;g37338e6a47c_0_14"/>
          <p:cNvSpPr txBox="1"/>
          <p:nvPr/>
        </p:nvSpPr>
        <p:spPr>
          <a:xfrm>
            <a:off x="659765" y="895985"/>
            <a:ext cx="7239635" cy="48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altLang="zh-CN" sz="2000" b="1">
                <a:solidFill>
                  <a:schemeClr val="dk1"/>
                </a:solidFill>
                <a:sym typeface="+mn-ea"/>
              </a:rPr>
              <a:t>Experiment B</a:t>
            </a:r>
            <a:r>
              <a:rPr lang="en-US" altLang="zh-CN" sz="2000" b="1">
                <a:solidFill>
                  <a:schemeClr val="dk1"/>
                </a:solidFill>
                <a:sym typeface="+mn-ea"/>
              </a:rPr>
              <a:t> : Cross-source Performance Analysis</a:t>
            </a:r>
            <a:endParaRPr lang="en-US" altLang="zh-CN" sz="2000" b="1">
              <a:solidFill>
                <a:schemeClr val="dk1"/>
              </a:solidFill>
            </a:endParaRPr>
          </a:p>
        </p:txBody>
      </p:sp>
      <p:sp>
        <p:nvSpPr>
          <p:cNvPr id="181" name="Google Shape;181;g3735f9dc692_2_9"/>
          <p:cNvSpPr txBox="1"/>
          <p:nvPr/>
        </p:nvSpPr>
        <p:spPr>
          <a:xfrm>
            <a:off x="551180" y="1341120"/>
            <a:ext cx="8873490" cy="4832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Objective: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Analyze how </a:t>
            </a:r>
            <a:r>
              <a:rPr lang="en-US" altLang="zh-CN" sz="1550" b="1">
                <a:solidFill>
                  <a:schemeClr val="dk1"/>
                </a:solidFill>
                <a:sym typeface="+mn-ea"/>
              </a:rPr>
              <a:t>model performance</a:t>
            </a:r>
            <a:r>
              <a:rPr lang="en-US" altLang="zh-CN" sz="1550">
                <a:solidFill>
                  <a:schemeClr val="dk1"/>
                </a:solidFill>
                <a:sym typeface="+mn-ea"/>
              </a:rPr>
              <a:t> changes across different data sources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Evaluate </a:t>
            </a:r>
            <a:r>
              <a:rPr lang="en-US" altLang="zh-CN" sz="1550" b="1">
                <a:solidFill>
                  <a:schemeClr val="dk1"/>
                </a:solidFill>
                <a:sym typeface="+mn-ea"/>
              </a:rPr>
              <a:t>robustness and generalization ability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Core Idea: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Same model, different sources </a:t>
            </a:r>
            <a:r>
              <a:rPr lang="en-US" altLang="en-US" sz="1550">
                <a:solidFill>
                  <a:schemeClr val="dk1"/>
                </a:solidFill>
                <a:sym typeface="+mn-ea"/>
              </a:rPr>
              <a:t>→</a:t>
            </a:r>
            <a:r>
              <a:rPr lang="en-US" altLang="zh-CN" sz="1550">
                <a:solidFill>
                  <a:schemeClr val="dk1"/>
                </a:solidFill>
                <a:sym typeface="+mn-ea"/>
              </a:rPr>
              <a:t> compare performance shift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Measure sensitivity to data distribution differences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Metric Definition: 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Define performance gap for any metric</a:t>
            </a:r>
            <a:r>
              <a:rPr lang="en-US" altLang="zh-CN" sz="1550" b="1">
                <a:solidFill>
                  <a:schemeClr val="dk1"/>
                </a:solidFill>
                <a:sym typeface="+mn-ea"/>
              </a:rPr>
              <a:t> M: </a:t>
            </a:r>
            <a:r>
              <a:rPr lang="en-US" altLang="zh-CN" sz="1550">
                <a:solidFill>
                  <a:schemeClr val="dk1"/>
                </a:solidFill>
                <a:sym typeface="+mn-ea"/>
              </a:rPr>
              <a:t>gap(M) = |Ms</a:t>
            </a:r>
            <a:r>
              <a:rPr lang="en-US" altLang="zh-CN" sz="1550" baseline="-25000">
                <a:solidFill>
                  <a:schemeClr val="dk1"/>
                </a:solidFill>
                <a:sym typeface="+mn-ea"/>
              </a:rPr>
              <a:t>0</a:t>
            </a:r>
            <a:r>
              <a:rPr lang="en-US" altLang="zh-CN" sz="1550">
                <a:solidFill>
                  <a:schemeClr val="dk1"/>
                </a:solidFill>
                <a:sym typeface="+mn-ea"/>
              </a:rPr>
              <a:t> - Ms</a:t>
            </a:r>
            <a:r>
              <a:rPr lang="en-US" altLang="zh-CN" sz="1550" baseline="-25000">
                <a:solidFill>
                  <a:schemeClr val="dk1"/>
                </a:solidFill>
                <a:sym typeface="+mn-ea"/>
              </a:rPr>
              <a:t>1</a:t>
            </a:r>
            <a:r>
              <a:rPr lang="en-US" altLang="zh-CN" sz="1550">
                <a:solidFill>
                  <a:schemeClr val="dk1"/>
                </a:solidFill>
                <a:sym typeface="+mn-ea"/>
              </a:rPr>
              <a:t>|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Key Findings: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Fine-tuning leads to substantial improvements across all models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Large performance gaps exist between model families (Qwen &gt; BERT &gt; traditional methods)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Models show different performance across data sources, indicating sensitivity to input variation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endParaRPr lang="en-US" altLang="zh-CN" sz="1550">
              <a:solidFill>
                <a:schemeClr val="dk1"/>
              </a:solidFill>
              <a:sym typeface="+mn-ea"/>
            </a:endParaRPr>
          </a:p>
        </p:txBody>
      </p:sp>
      <p:graphicFrame>
        <p:nvGraphicFramePr>
          <p:cNvPr id="6" name="表格 5"/>
          <p:cNvGraphicFramePr/>
          <p:nvPr>
            <p:custDataLst>
              <p:tags r:id="rId2"/>
            </p:custDataLst>
          </p:nvPr>
        </p:nvGraphicFramePr>
        <p:xfrm>
          <a:off x="7752080" y="1196975"/>
          <a:ext cx="3882390" cy="3597275"/>
        </p:xfrm>
        <a:graphic>
          <a:graphicData uri="http://schemas.openxmlformats.org/drawingml/2006/table">
            <a:tbl>
              <a:tblPr/>
              <a:tblGrid>
                <a:gridCol w="2262505"/>
                <a:gridCol w="1619885"/>
              </a:tblGrid>
              <a:tr h="28638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Model</a:t>
                      </a:r>
                      <a:endParaRPr lang="en-US" altLang="zh-CN" sz="15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rgbClr val="FFC000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Macro-F1 Gap</a:t>
                      </a:r>
                      <a:endParaRPr lang="en-US" altLang="zh-CN" sz="15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 w="12700">
                      <a:solidFill>
                        <a:srgbClr val="FFC000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</a:tr>
              <a:tr h="435610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Qwen3-4.0B (fine-tuned)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0.0016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28638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Qwen3-0.6B (before)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0.0034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28638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VADER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0.0085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435610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Qwen3-1.7B (fine-tuned)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0.0221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435610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Qwen3-0.6B (fine-tuned)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0.023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28638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BERT (before)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0.0301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SVM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0.04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28638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Qwen3-1.7B (before)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0.0458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28638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BERT (fine-tuned)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0.0463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  <a:tr h="286385">
                <a:tc>
                  <a:txBody>
                    <a:bodyPr/>
                    <a:p>
                      <a:pPr algn="ctr" fontAlgn="ctr"/>
                      <a:r>
                        <a:rPr lang="en-US" altLang="zh-CN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Qwen3-4.0B (before)</a:t>
                      </a:r>
                      <a:endParaRPr lang="en-US" altLang="zh-CN" sz="15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12700">
                      <a:solidFill>
                        <a:srgbClr val="FFC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FFC000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0.0941</a:t>
                      </a:r>
                      <a:endParaRPr lang="en-US" altLang="zh-CN" sz="15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12700">
                      <a:solidFill>
                        <a:srgbClr val="FFC000"/>
                      </a:solidFill>
                      <a:prstDash val="solid"/>
                    </a:lnR>
                    <a:lnT>
                      <a:noFill/>
                    </a:lnT>
                    <a:lnB w="12700">
                      <a:solidFill>
                        <a:srgbClr val="FFC000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 altLang="zh-CN"/>
              <a:t>Experiments and </a:t>
            </a:r>
            <a:r>
              <a:rPr lang="en-AU"/>
              <a:t>Results</a:t>
            </a:r>
            <a:endParaRPr lang="en-AU"/>
          </a:p>
        </p:txBody>
      </p:sp>
      <p:sp>
        <p:nvSpPr>
          <p:cNvPr id="159" name="Google Shape;159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AU"/>
            </a:fld>
            <a:endParaRPr lang="en-AU"/>
          </a:p>
        </p:txBody>
      </p:sp>
      <p:sp>
        <p:nvSpPr>
          <p:cNvPr id="160" name="Google Shape;160;p8"/>
          <p:cNvSpPr txBox="1"/>
          <p:nvPr/>
        </p:nvSpPr>
        <p:spPr>
          <a:xfrm>
            <a:off x="119743" y="6225545"/>
            <a:ext cx="7326086" cy="25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Weiye Li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(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z5597115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)</a:t>
            </a:r>
            <a:endParaRPr lang="en-AU" sz="110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7" name="Google Shape;217;g37338e6a47c_0_1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37490" y="895785"/>
            <a:ext cx="494279" cy="4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18;g37338e6a47c_0_14"/>
          <p:cNvSpPr txBox="1"/>
          <p:nvPr/>
        </p:nvSpPr>
        <p:spPr>
          <a:xfrm>
            <a:off x="731520" y="895985"/>
            <a:ext cx="7239635" cy="48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altLang="zh-CN" sz="2000" b="1">
                <a:solidFill>
                  <a:schemeClr val="dk1"/>
                </a:solidFill>
              </a:rPr>
              <a:t>Experiment C: Fine-tuning Effect Analysis</a:t>
            </a:r>
            <a:endParaRPr lang="en-US" altLang="zh-CN" sz="2000" b="1">
              <a:solidFill>
                <a:schemeClr val="dk1"/>
              </a:solidFill>
            </a:endParaRPr>
          </a:p>
        </p:txBody>
      </p:sp>
      <p:sp>
        <p:nvSpPr>
          <p:cNvPr id="2" name="Google Shape;181;g3735f9dc692_2_9"/>
          <p:cNvSpPr txBox="1"/>
          <p:nvPr/>
        </p:nvSpPr>
        <p:spPr>
          <a:xfrm>
            <a:off x="768350" y="1383030"/>
            <a:ext cx="5549900" cy="411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Objective: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Evaluate improvement via before–after comparison in 3-class sentiment classification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Metric &amp; Setup: 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Δ Macro-F1 (after − before), compared across models on both sources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Key Findings: 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Fine-tuning improves all models, with weaker models gaining more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BERT shows the largest improvement, indicating stronger reliance on fine-tuning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</p:txBody>
      </p:sp>
      <p:pic>
        <p:nvPicPr>
          <p:cNvPr id="4" name="图片 3" descr="Figure4"/>
          <p:cNvPicPr>
            <a:picLocks noChangeAspect="1"/>
          </p:cNvPicPr>
          <p:nvPr/>
        </p:nvPicPr>
        <p:blipFill>
          <a:blip r:embed="rId2"/>
          <a:srcRect t="10604" r="49385"/>
          <a:stretch>
            <a:fillRect/>
          </a:stretch>
        </p:blipFill>
        <p:spPr>
          <a:xfrm>
            <a:off x="6743700" y="96520"/>
            <a:ext cx="4428490" cy="2966720"/>
          </a:xfrm>
          <a:prstGeom prst="rect">
            <a:avLst/>
          </a:prstGeom>
        </p:spPr>
      </p:pic>
      <p:pic>
        <p:nvPicPr>
          <p:cNvPr id="5" name="图片 4" descr="Figure4"/>
          <p:cNvPicPr>
            <a:picLocks noChangeAspect="1"/>
          </p:cNvPicPr>
          <p:nvPr/>
        </p:nvPicPr>
        <p:blipFill>
          <a:blip r:embed="rId2"/>
          <a:srcRect l="51359" t="10604"/>
          <a:stretch>
            <a:fillRect/>
          </a:stretch>
        </p:blipFill>
        <p:spPr>
          <a:xfrm>
            <a:off x="6906895" y="3062605"/>
            <a:ext cx="4280535" cy="298386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 altLang="zh-CN"/>
              <a:t>Experiments and </a:t>
            </a:r>
            <a:r>
              <a:rPr lang="en-AU"/>
              <a:t>Results</a:t>
            </a:r>
            <a:endParaRPr lang="en-AU"/>
          </a:p>
        </p:txBody>
      </p:sp>
      <p:sp>
        <p:nvSpPr>
          <p:cNvPr id="159" name="Google Shape;159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AU"/>
            </a:fld>
            <a:endParaRPr lang="en-AU"/>
          </a:p>
        </p:txBody>
      </p:sp>
      <p:sp>
        <p:nvSpPr>
          <p:cNvPr id="160" name="Google Shape;160;p8"/>
          <p:cNvSpPr txBox="1"/>
          <p:nvPr/>
        </p:nvSpPr>
        <p:spPr>
          <a:xfrm>
            <a:off x="119743" y="6225545"/>
            <a:ext cx="7326086" cy="25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Weiye Li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(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z5597115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)</a:t>
            </a:r>
            <a:endParaRPr lang="en-AU" sz="110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7" name="Google Shape;217;g37338e6a47c_0_1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37490" y="895785"/>
            <a:ext cx="494279" cy="4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18;g37338e6a47c_0_14"/>
          <p:cNvSpPr txBox="1"/>
          <p:nvPr/>
        </p:nvSpPr>
        <p:spPr>
          <a:xfrm>
            <a:off x="731520" y="895985"/>
            <a:ext cx="7239635" cy="48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altLang="zh-CN" sz="2000" b="1">
                <a:solidFill>
                  <a:schemeClr val="dk1"/>
                </a:solidFill>
                <a:sym typeface="+mn-ea"/>
              </a:rPr>
              <a:t>Experiment D: Per-class Performance Analysis</a:t>
            </a:r>
            <a:endParaRPr lang="en-US" altLang="zh-CN" sz="20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endParaRPr lang="en-US" altLang="zh-CN" sz="2000" b="1">
              <a:solidFill>
                <a:schemeClr val="dk1"/>
              </a:solidFill>
            </a:endParaRPr>
          </a:p>
        </p:txBody>
      </p:sp>
      <p:sp>
        <p:nvSpPr>
          <p:cNvPr id="2" name="Google Shape;181;g3735f9dc692_2_9"/>
          <p:cNvSpPr txBox="1"/>
          <p:nvPr/>
        </p:nvSpPr>
        <p:spPr>
          <a:xfrm>
            <a:off x="768350" y="1383030"/>
            <a:ext cx="4691380" cy="447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Objective: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Analyze class-level performance to compare positive, neutral, and negative, focusing on the difficulty of neutral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Metric &amp; Setup: 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Per-class Precision, Recall, and F1, compared across models and data sources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Key Findings: 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Performance is high for positive and negative but much lower for neutral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Qwen3-4.0B achieves the best balance across all classes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</p:txBody>
      </p:sp>
      <p:pic>
        <p:nvPicPr>
          <p:cNvPr id="8" name="图片 7" descr="Figur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80" y="136525"/>
            <a:ext cx="4897755" cy="2922270"/>
          </a:xfrm>
          <a:prstGeom prst="rect">
            <a:avLst/>
          </a:prstGeom>
        </p:spPr>
      </p:pic>
      <p:pic>
        <p:nvPicPr>
          <p:cNvPr id="9" name="图片 8" descr="Figure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1945" y="3121025"/>
            <a:ext cx="4937760" cy="294576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0010" y="1520190"/>
            <a:ext cx="7010400" cy="4076700"/>
          </a:xfrm>
          <a:prstGeom prst="rect">
            <a:avLst/>
          </a:prstGeom>
        </p:spPr>
      </p:pic>
      <p:sp>
        <p:nvSpPr>
          <p:cNvPr id="157" name="Google Shape;157;p8"/>
          <p:cNvSpPr txBox="1"/>
          <p:nvPr>
            <p:ph type="title"/>
          </p:nvPr>
        </p:nvSpPr>
        <p:spPr>
          <a:xfrm>
            <a:off x="231648" y="136525"/>
            <a:ext cx="11631168" cy="838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 panose="020B0604020202020204"/>
              <a:buNone/>
            </a:pPr>
            <a:r>
              <a:rPr lang="en-US" altLang="zh-CN"/>
              <a:t>Experiments and </a:t>
            </a:r>
            <a:r>
              <a:rPr lang="en-AU"/>
              <a:t>Results</a:t>
            </a:r>
            <a:endParaRPr lang="en-AU"/>
          </a:p>
        </p:txBody>
      </p:sp>
      <p:sp>
        <p:nvSpPr>
          <p:cNvPr id="159" name="Google Shape;159;p8"/>
          <p:cNvSpPr txBox="1"/>
          <p:nvPr>
            <p:ph type="sldNum" idx="12"/>
          </p:nvPr>
        </p:nvSpPr>
        <p:spPr>
          <a:xfrm>
            <a:off x="8610600" y="614108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AU"/>
            </a:fld>
            <a:endParaRPr lang="en-AU"/>
          </a:p>
        </p:txBody>
      </p:sp>
      <p:sp>
        <p:nvSpPr>
          <p:cNvPr id="160" name="Google Shape;160;p8"/>
          <p:cNvSpPr txBox="1"/>
          <p:nvPr/>
        </p:nvSpPr>
        <p:spPr>
          <a:xfrm>
            <a:off x="119743" y="6225545"/>
            <a:ext cx="7326086" cy="259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Presenter: 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Weiye Li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(</a:t>
            </a:r>
            <a:r>
              <a:rPr lang="en-US" alt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z5597115</a:t>
            </a:r>
            <a:r>
              <a:rPr lang="en-AU" sz="11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)</a:t>
            </a:r>
            <a:endParaRPr lang="en-AU" sz="110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7" name="Google Shape;217;g37338e6a47c_0_1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237490" y="824030"/>
            <a:ext cx="494279" cy="4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18;g37338e6a47c_0_14"/>
          <p:cNvSpPr txBox="1"/>
          <p:nvPr/>
        </p:nvSpPr>
        <p:spPr>
          <a:xfrm>
            <a:off x="731520" y="824230"/>
            <a:ext cx="7239635" cy="48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altLang="zh-CN" sz="2000" b="1">
                <a:solidFill>
                  <a:schemeClr val="dk1"/>
                </a:solidFill>
              </a:rPr>
              <a:t>Qualitative Error Analysis</a:t>
            </a:r>
            <a:endParaRPr lang="en-US" altLang="zh-CN" sz="2000" b="1">
              <a:solidFill>
                <a:schemeClr val="dk1"/>
              </a:solidFill>
            </a:endParaRPr>
          </a:p>
        </p:txBody>
      </p:sp>
      <p:sp>
        <p:nvSpPr>
          <p:cNvPr id="2" name="Google Shape;181;g3735f9dc692_2_9"/>
          <p:cNvSpPr txBox="1"/>
          <p:nvPr/>
        </p:nvSpPr>
        <p:spPr>
          <a:xfrm>
            <a:off x="551180" y="1412875"/>
            <a:ext cx="5128260" cy="4832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Objective: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Analyze misclassified samples to identify semantic error patterns beyond metrics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Analysis Method: 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eaLnBrk="1" fontAlgn="auto" latinLnBrk="0" hangingPunct="1">
              <a:lnSpc>
                <a:spcPct val="150000"/>
              </a:lnSpc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  <a:sym typeface="+mn-ea"/>
              </a:rPr>
              <a:t>Use Qwen3-4.0B errors, group into types (e.g., mixed, weak, irony) and analyze distribution</a:t>
            </a:r>
            <a:endParaRPr lang="en-US" altLang="zh-CN" sz="1550">
              <a:solidFill>
                <a:schemeClr val="dk1"/>
              </a:solidFill>
              <a:sym typeface="+mn-ea"/>
            </a:endParaRPr>
          </a:p>
          <a:p>
            <a:pPr marL="127000" lvl="0" algn="l" eaLnBrk="1" fontAlgn="auto" latinLnBrk="0" hangingPunct="1">
              <a:lnSpc>
                <a:spcPct val="150000"/>
              </a:lnSpc>
              <a:buSzPts val="1600"/>
              <a:buNone/>
            </a:pPr>
            <a:r>
              <a:rPr lang="en-US" altLang="zh-CN" sz="1550" b="1">
                <a:solidFill>
                  <a:schemeClr val="dk1"/>
                </a:solidFill>
                <a:sym typeface="+mn-ea"/>
              </a:rPr>
              <a:t>Key Findings:</a:t>
            </a:r>
            <a:endParaRPr lang="en-US" altLang="zh-CN" sz="1550" b="1">
              <a:solidFill>
                <a:schemeClr val="dk1"/>
              </a:solidFill>
              <a:sym typeface="+mn-ea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</a:rPr>
              <a:t>Errors are mainly from mixed and weak sentiment (~80%)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</a:rPr>
              <a:t>The model tends to predict neutral under ambiguity</a:t>
            </a:r>
            <a:endParaRPr lang="en-US" altLang="zh-CN" sz="1550">
              <a:solidFill>
                <a:schemeClr val="dk1"/>
              </a:solidFill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US" altLang="zh-CN" sz="1550">
                <a:solidFill>
                  <a:schemeClr val="dk1"/>
                </a:solidFill>
              </a:rPr>
              <a:t>Performance remains strong on clear positive and negative cases</a:t>
            </a:r>
            <a:endParaRPr lang="en-US" altLang="zh-CN" sz="1550">
              <a:solidFill>
                <a:schemeClr val="dk1"/>
              </a:solidFill>
            </a:endParaRPr>
          </a:p>
          <a:p>
            <a:pPr marL="127000" lvl="0" indent="0" algn="l" eaLnBrk="1" fontAlgn="auto" latinLnBrk="0" hangingPunct="1">
              <a:lnSpc>
                <a:spcPct val="150000"/>
              </a:lnSpc>
              <a:buSzPts val="1600"/>
              <a:buNone/>
            </a:pPr>
            <a:endParaRPr lang="en-US" altLang="zh-CN" sz="1550">
              <a:solidFill>
                <a:schemeClr val="dk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e60b20a7d0_2_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5" name="Google Shape;415;g3e60b20a7d0_2_3"/>
          <p:cNvSpPr txBox="1"/>
          <p:nvPr>
            <p:ph type="body" idx="1"/>
          </p:nvPr>
        </p:nvSpPr>
        <p:spPr>
          <a:xfrm>
            <a:off x="838200" y="1825625"/>
            <a:ext cx="10515600" cy="4088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</a:p>
        </p:txBody>
      </p:sp>
      <p:sp>
        <p:nvSpPr>
          <p:cNvPr id="416" name="Google Shape;416;g3e60b20a7d0_2_3"/>
          <p:cNvSpPr txBox="1"/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pic>
        <p:nvPicPr>
          <p:cNvPr id="417" name="Google Shape;417;g3e60b20a7d0_2_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8" name="Google Shape;438;p38" descr="A close-up of a sign&#10;&#10;Description automatically generated"/>
          <p:cNvPicPr preferRelativeResize="0"/>
          <p:nvPr>
            <p:ph type="body" idx="1"/>
          </p:nvPr>
        </p:nvPicPr>
        <p:blipFill rotWithShape="1">
          <a:blip r:embed="rId1"/>
          <a:srcRect/>
          <a:stretch>
            <a:fillRect/>
          </a:stretch>
        </p:blipFill>
        <p:spPr>
          <a:xfrm>
            <a:off x="2562525" y="810244"/>
            <a:ext cx="6705300" cy="458940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3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440" name="Google Shape;440;p38"/>
          <p:cNvSpPr txBox="1"/>
          <p:nvPr/>
        </p:nvSpPr>
        <p:spPr>
          <a:xfrm>
            <a:off x="368381" y="6308080"/>
            <a:ext cx="670528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</a:pPr>
            <a:r>
              <a:rPr lang="en-US" sz="900" b="0" i="0" u="sng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2"/>
              </a:rPr>
              <a:t>This Photo</a:t>
            </a:r>
            <a:r>
              <a:rPr lang="en-US"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by Unknown Author is licensed under </a:t>
            </a:r>
            <a:r>
              <a:rPr lang="en-US" sz="900" b="0" i="0" u="sng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3"/>
              </a:rPr>
              <a:t>CC BY-SA</a:t>
            </a:r>
            <a:endParaRPr sz="9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305*283"/>
  <p:tag name="TABLE_ENDDRAG_RECT" val="600*94*305*283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10412</Words>
  <Application>WPS 演示</Application>
  <PresentationFormat/>
  <Paragraphs>535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8" baseType="lpstr">
      <vt:lpstr>Arial</vt:lpstr>
      <vt:lpstr>宋体</vt:lpstr>
      <vt:lpstr>Wingdings</vt:lpstr>
      <vt:lpstr>Arial</vt:lpstr>
      <vt:lpstr>Calibri</vt:lpstr>
      <vt:lpstr>Noto Sans Symbols</vt:lpstr>
      <vt:lpstr>Segoe Print</vt:lpstr>
      <vt:lpstr>微软雅黑</vt:lpstr>
      <vt:lpstr>Arial Unicode MS</vt:lpstr>
      <vt:lpstr>Office Theme</vt:lpstr>
      <vt:lpstr>PowerPoint 演示文稿</vt:lpstr>
      <vt:lpstr>Problems &amp; Our task</vt:lpstr>
      <vt:lpstr>Data sources</vt:lpstr>
      <vt:lpstr>it looks like</vt:lpstr>
      <vt:lpstr>Dataset Analysis: 1. Length problem</vt:lpstr>
      <vt:lpstr>Dataset Analysis: 2. Non-ASCII characters</vt:lpstr>
      <vt:lpstr>Dataset Analysis: 3. Satirical comments</vt:lpstr>
      <vt:lpstr>Dataset Analysis: 4. The centrists rated 5 or 6</vt:lpstr>
      <vt:lpstr>Multi-Model Annotation Pipeline</vt:lpstr>
      <vt:lpstr>Multi-Model Annotation Pipeline</vt:lpstr>
      <vt:lpstr>The lexicon: VADER</vt:lpstr>
      <vt:lpstr>Method(s)</vt:lpstr>
      <vt:lpstr>Method(s)</vt:lpstr>
      <vt:lpstr>Method(s)</vt:lpstr>
      <vt:lpstr>Method(s)</vt:lpstr>
      <vt:lpstr>Method(s)</vt:lpstr>
      <vt:lpstr>Method(s)</vt:lpstr>
      <vt:lpstr>Method(s)</vt:lpstr>
      <vt:lpstr>Method(s)</vt:lpstr>
      <vt:lpstr>Evaluation Metrics</vt:lpstr>
      <vt:lpstr>Experiments and Results</vt:lpstr>
      <vt:lpstr>Experiments and Results</vt:lpstr>
      <vt:lpstr>Experiments and Results</vt:lpstr>
      <vt:lpstr>Experiments and Results</vt:lpstr>
      <vt:lpstr>Experiments and Results</vt:lpstr>
      <vt:lpstr>Experiments and Results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Shisheng Zhang</dc:creator>
  <cp:lastModifiedBy>Y</cp:lastModifiedBy>
  <cp:revision>1</cp:revision>
  <dcterms:created xsi:type="dcterms:W3CDTF">2026-04-23T07:59:25Z</dcterms:created>
  <dcterms:modified xsi:type="dcterms:W3CDTF">2026-04-23T07:59:25Z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2052-12.1.0.25860</vt:lpwstr>
  </property>
  <property fmtid="{D5CDD505-2E9C-101B-9397-08002B2CF9AE}" pid="3" name="ICV">
    <vt:lpwstr>16AE500D0C2D4630B4571A54052C761A_13</vt:lpwstr>
  </property>
</Properties>
</file>