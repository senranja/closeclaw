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j1FfOzzHYyVLDcAyUJtEQaQxqV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9007F6-F729-45E2-AEAE-6890A6F9BD50}">
  <a:tblStyle styleId="{139007F6-F729-45E2-AEAE-6890A6F9BD5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554BEF1-F271-4E62-9AB0-64FB7E8CD77D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60b20a7d0_2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e60b20a7d0_2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e60b20a7d0_2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e60b20a7d0_2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e60b20a7d0_2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e60b20a7d0_2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/>
          <p:nvPr/>
        </p:nvSpPr>
        <p:spPr>
          <a:xfrm>
            <a:off x="1" y="1"/>
            <a:ext cx="5543550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2999759">
            <a:off x="1292068" y="-612610"/>
            <a:ext cx="5135041" cy="7002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055" y="4792776"/>
            <a:ext cx="1760572" cy="1842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1"/>
          <p:cNvSpPr/>
          <p:nvPr/>
        </p:nvSpPr>
        <p:spPr>
          <a:xfrm rot="5400000">
            <a:off x="5706291" y="372292"/>
            <a:ext cx="779419" cy="12192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</a:pPr>
            <a:r>
              <a:t/>
            </a:r>
            <a:endParaRPr b="0" i="0" sz="1405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food&#10;&#10;Description automatically generated" id="21" name="Google Shape;2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07849" y="6139546"/>
            <a:ext cx="598271" cy="70104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1"/>
          <p:cNvSpPr txBox="1"/>
          <p:nvPr>
            <p:ph idx="1" type="body"/>
          </p:nvPr>
        </p:nvSpPr>
        <p:spPr>
          <a:xfrm>
            <a:off x="838200" y="1825625"/>
            <a:ext cx="10515600" cy="40881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0" name="Google Shape;30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4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4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4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4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4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5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ai.stanford.edu/~amaas/data/sentiment/" TargetMode="External"/><Relationship Id="rId4" Type="http://schemas.openxmlformats.org/officeDocument/2006/relationships/hyperlink" Target="https://huggingface.co/datasets/cornell-movie-review-data/rotten_tomatoes" TargetMode="External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cjhutto/vaderSentiment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jpg"/><Relationship Id="rId4" Type="http://schemas.openxmlformats.org/officeDocument/2006/relationships/hyperlink" Target="https://www.picpedia.org/highway-signs/q/questions.html" TargetMode="External"/><Relationship Id="rId5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/>
        </p:nvSpPr>
        <p:spPr>
          <a:xfrm>
            <a:off x="597550" y="1529025"/>
            <a:ext cx="5434500" cy="3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900">
                <a:solidFill>
                  <a:schemeClr val="dk1"/>
                </a:solidFill>
              </a:rPr>
              <a:t>Movie Review Sentiment </a:t>
            </a:r>
            <a:endParaRPr b="1" sz="4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900">
                <a:solidFill>
                  <a:schemeClr val="dk1"/>
                </a:solidFill>
              </a:rPr>
              <a:t>Analysis</a:t>
            </a:r>
            <a:endParaRPr b="1" sz="49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sz="4800">
              <a:solidFill>
                <a:schemeClr val="dk1"/>
              </a:solidFill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6032050" y="1377075"/>
            <a:ext cx="5769300" cy="3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dk1"/>
                </a:solidFill>
              </a:rPr>
              <a:t>CloseClaw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Haotian Wang (z5576699)</a:t>
            </a:r>
            <a:endParaRPr sz="2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Weiye </a:t>
            </a:r>
            <a:r>
              <a:rPr lang="en-US" sz="2800">
                <a:solidFill>
                  <a:schemeClr val="dk1"/>
                </a:solidFill>
              </a:rPr>
              <a:t>Li (z5597115)</a:t>
            </a:r>
            <a:endParaRPr sz="2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Yingxin Li (z5519793)</a:t>
            </a:r>
            <a:endParaRPr sz="2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Yanjian Shen (z5541664)</a:t>
            </a:r>
            <a:endParaRPr sz="28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Kejing Wang (z5526880)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>
            <p:ph type="title"/>
          </p:nvPr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Problems &amp; </a:t>
            </a:r>
            <a:r>
              <a:rPr lang="en-US"/>
              <a:t>Our task</a:t>
            </a:r>
            <a:endParaRPr/>
          </a:p>
        </p:txBody>
      </p:sp>
      <p:sp>
        <p:nvSpPr>
          <p:cNvPr id="107" name="Google Shape;107;p5"/>
          <p:cNvSpPr txBox="1"/>
          <p:nvPr>
            <p:ph idx="1" type="body"/>
          </p:nvPr>
        </p:nvSpPr>
        <p:spPr>
          <a:xfrm>
            <a:off x="1282000" y="820900"/>
            <a:ext cx="10642800" cy="50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/>
              <a:t>Our Task</a:t>
            </a:r>
            <a:r>
              <a:rPr lang="en-US" sz="2700"/>
              <a:t>:</a:t>
            </a:r>
            <a:endParaRPr sz="2700"/>
          </a:p>
          <a:p>
            <a:pPr indent="4572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C00000"/>
                </a:solidFill>
              </a:rPr>
              <a:t>Three-category</a:t>
            </a:r>
            <a:r>
              <a:rPr lang="en-US" sz="2700"/>
              <a:t> </a:t>
            </a:r>
            <a:r>
              <a:rPr b="1" lang="en-US" sz="2700">
                <a:solidFill>
                  <a:srgbClr val="0000FF"/>
                </a:solidFill>
              </a:rPr>
              <a:t>film review</a:t>
            </a:r>
            <a:r>
              <a:rPr lang="en-US" sz="2700"/>
              <a:t> </a:t>
            </a:r>
            <a:r>
              <a:rPr b="1" lang="en-US" sz="2700">
                <a:solidFill>
                  <a:srgbClr val="674EA7"/>
                </a:solidFill>
              </a:rPr>
              <a:t>sentiment</a:t>
            </a:r>
            <a:r>
              <a:rPr b="1" lang="en-US" sz="2700"/>
              <a:t> analysis</a:t>
            </a:r>
            <a:endParaRPr b="1" sz="2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00"/>
              <a:t>Three-category:</a:t>
            </a:r>
            <a:endParaRPr b="1" sz="2700"/>
          </a:p>
          <a:p>
            <a:pPr indent="0" lvl="0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0000"/>
                </a:solidFill>
              </a:rPr>
              <a:t>0</a:t>
            </a:r>
            <a:r>
              <a:rPr b="1" lang="en-US" sz="2700"/>
              <a:t> represents </a:t>
            </a:r>
            <a:r>
              <a:rPr b="1" lang="en-US" sz="2700">
                <a:solidFill>
                  <a:srgbClr val="85200C"/>
                </a:solidFill>
              </a:rPr>
              <a:t>neutral</a:t>
            </a:r>
            <a:endParaRPr b="1" sz="2700">
              <a:solidFill>
                <a:srgbClr val="85200C"/>
              </a:solidFill>
            </a:endParaRPr>
          </a:p>
          <a:p>
            <a:pPr indent="0" lvl="0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0000"/>
                </a:solidFill>
              </a:rPr>
              <a:t>1</a:t>
            </a:r>
            <a:r>
              <a:rPr b="1" lang="en-US" sz="2700"/>
              <a:t> represents </a:t>
            </a:r>
            <a:r>
              <a:rPr b="1" lang="en-US" sz="2700">
                <a:solidFill>
                  <a:srgbClr val="6AA84F"/>
                </a:solidFill>
              </a:rPr>
              <a:t>positive</a:t>
            </a:r>
            <a:endParaRPr b="1" sz="2700">
              <a:solidFill>
                <a:srgbClr val="6AA84F"/>
              </a:solidFill>
            </a:endParaRPr>
          </a:p>
          <a:p>
            <a:pPr indent="0" lvl="0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0000"/>
                </a:solidFill>
              </a:rPr>
              <a:t>-1 </a:t>
            </a:r>
            <a:r>
              <a:rPr b="1" lang="en-US" sz="2700"/>
              <a:t>represents </a:t>
            </a:r>
            <a:r>
              <a:rPr b="1" lang="en-US" sz="2700">
                <a:solidFill>
                  <a:srgbClr val="CC0000"/>
                </a:solidFill>
              </a:rPr>
              <a:t>negative</a:t>
            </a:r>
            <a:endParaRPr b="1" sz="2700"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/>
              <a:t>“The movie is really Good!” -&gt; </a:t>
            </a:r>
            <a:r>
              <a:rPr b="1" lang="en-US" sz="2100">
                <a:solidFill>
                  <a:srgbClr val="548135"/>
                </a:solidFill>
              </a:rPr>
              <a:t>positive</a:t>
            </a:r>
            <a:endParaRPr b="1" sz="2100">
              <a:solidFill>
                <a:srgbClr val="54813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/>
              <a:t>“The movie is really bad!, I wont recommend it!!” -&gt; </a:t>
            </a:r>
            <a:r>
              <a:rPr b="1" lang="en-US" sz="2100">
                <a:solidFill>
                  <a:srgbClr val="980000"/>
                </a:solidFill>
              </a:rPr>
              <a:t>negative</a:t>
            </a:r>
            <a:endParaRPr b="1" sz="21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/>
              <a:t>“This movie has very few redeeming qualities, but it's still watchable.” -&gt; </a:t>
            </a:r>
            <a:r>
              <a:rPr b="1" lang="en-US" sz="2100">
                <a:solidFill>
                  <a:srgbClr val="CC4125"/>
                </a:solidFill>
              </a:rPr>
              <a:t>negative</a:t>
            </a:r>
            <a:endParaRPr b="1" sz="2100">
              <a:solidFill>
                <a:srgbClr val="CC4125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/>
          </a:p>
        </p:txBody>
      </p:sp>
      <p:sp>
        <p:nvSpPr>
          <p:cNvPr id="108" name="Google Shape;10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5"/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Jingying Gao (zxxxxxxx)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>
            <p:ph type="title"/>
          </p:nvPr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Data </a:t>
            </a:r>
            <a:r>
              <a:rPr lang="en-US"/>
              <a:t>sources</a:t>
            </a:r>
            <a:endParaRPr/>
          </a:p>
        </p:txBody>
      </p:sp>
      <p:sp>
        <p:nvSpPr>
          <p:cNvPr id="115" name="Google Shape;115;p3"/>
          <p:cNvSpPr txBox="1"/>
          <p:nvPr>
            <p:ph idx="1" type="body"/>
          </p:nvPr>
        </p:nvSpPr>
        <p:spPr>
          <a:xfrm>
            <a:off x="231648" y="847344"/>
            <a:ext cx="11631168" cy="5035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lang="en-US"/>
              <a:t> Existing open source datasets</a:t>
            </a:r>
            <a:endParaRPr/>
          </a:p>
          <a:p>
            <a:pPr indent="-514350" lvl="2" marL="1428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US" u="sng">
                <a:solidFill>
                  <a:schemeClr val="hlink"/>
                </a:solidFill>
                <a:hlinkClick r:id="rId3"/>
              </a:rPr>
              <a:t>IMDB Large Movie Review Dataset (2011)</a:t>
            </a:r>
            <a:r>
              <a:rPr lang="en-US"/>
              <a:t> (</a:t>
            </a:r>
            <a:r>
              <a:rPr b="1" lang="en-US"/>
              <a:t>100k rows</a:t>
            </a:r>
            <a:r>
              <a:rPr lang="en-US"/>
              <a:t>)</a:t>
            </a:r>
            <a:endParaRPr/>
          </a:p>
          <a:p>
            <a:pPr indent="-514350" lvl="2" marL="1428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US" u="sng">
                <a:solidFill>
                  <a:schemeClr val="hlink"/>
                </a:solidFill>
                <a:hlinkClick r:id="rId4"/>
              </a:rPr>
              <a:t>cornell-movie-review-data/rotten_tomatoes</a:t>
            </a:r>
            <a:r>
              <a:rPr lang="en-US"/>
              <a:t> </a:t>
            </a:r>
            <a:r>
              <a:rPr b="1" lang="en-US"/>
              <a:t>(10.67k rows</a:t>
            </a:r>
            <a:r>
              <a:rPr lang="en-US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lang="en-US"/>
              <a:t>Self-collected dataset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	IMDB latest movies (2026) (</a:t>
            </a:r>
            <a:r>
              <a:rPr b="1" lang="en-US"/>
              <a:t>25,618 rows</a:t>
            </a:r>
            <a:r>
              <a:rPr lang="en-US"/>
              <a:t>)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Jingying Gao (zxxxxxxx)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45825" y="2089575"/>
            <a:ext cx="4018126" cy="4029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29479" y="3296089"/>
            <a:ext cx="5291240" cy="2408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>
            <p:ph type="title"/>
          </p:nvPr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it looks like</a:t>
            </a:r>
            <a:endParaRPr/>
          </a:p>
        </p:txBody>
      </p:sp>
      <p:sp>
        <p:nvSpPr>
          <p:cNvPr id="125" name="Google Shape;125;p4"/>
          <p:cNvSpPr txBox="1"/>
          <p:nvPr>
            <p:ph idx="1" type="body"/>
          </p:nvPr>
        </p:nvSpPr>
        <p:spPr>
          <a:xfrm>
            <a:off x="231648" y="975360"/>
            <a:ext cx="11631168" cy="5035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Jingying Gao (zxxxxxxx)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184" y="847344"/>
            <a:ext cx="11389489" cy="5178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/>
          <p:nvPr>
            <p:ph type="title"/>
          </p:nvPr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Dataset Analysis: 1. Length problem</a:t>
            </a:r>
            <a:endParaRPr/>
          </a:p>
        </p:txBody>
      </p:sp>
      <p:sp>
        <p:nvSpPr>
          <p:cNvPr id="134" name="Google Shape;134;p6"/>
          <p:cNvSpPr txBox="1"/>
          <p:nvPr>
            <p:ph idx="1" type="body"/>
          </p:nvPr>
        </p:nvSpPr>
        <p:spPr>
          <a:xfrm>
            <a:off x="63815" y="755441"/>
            <a:ext cx="11631168" cy="5035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/>
              <a:t>For the </a:t>
            </a:r>
            <a:r>
              <a:rPr b="1" lang="en-US" sz="2000"/>
              <a:t>best movie review input </a:t>
            </a:r>
            <a:r>
              <a:rPr lang="en-US" sz="2000"/>
              <a:t>for later generic model training &amp; evaluating, we want the </a:t>
            </a:r>
            <a:r>
              <a:rPr b="1" lang="en-US" sz="2000"/>
              <a:t>[20, 200]</a:t>
            </a:r>
            <a:r>
              <a:rPr lang="en-US" sz="2000"/>
              <a:t> words of the movie review.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/>
              <a:t>For example, some reviews are very long. Even after removing high-frequency and low-meaning stopwords, they still contain 376 words, as shown below.</a:t>
            </a:r>
            <a:endParaRPr sz="2000"/>
          </a:p>
        </p:txBody>
      </p:sp>
      <p:sp>
        <p:nvSpPr>
          <p:cNvPr id="135" name="Google Shape;1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6"/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Jingying Gao (zxxxxxxx)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8004" y="2242517"/>
            <a:ext cx="6342928" cy="4372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/>
          <p:nvPr>
            <p:ph type="title"/>
          </p:nvPr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Dataset Analysis: 2. Non-ASCII characters</a:t>
            </a:r>
            <a:endParaRPr/>
          </a:p>
        </p:txBody>
      </p:sp>
      <p:sp>
        <p:nvSpPr>
          <p:cNvPr id="143" name="Google Shape;143;p7"/>
          <p:cNvSpPr txBox="1"/>
          <p:nvPr>
            <p:ph idx="1" type="body"/>
          </p:nvPr>
        </p:nvSpPr>
        <p:spPr>
          <a:xfrm>
            <a:off x="231648" y="975360"/>
            <a:ext cx="11631168" cy="5035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NLP Large Model can understand English and possibly other languages. But for this project task, we </a:t>
            </a:r>
            <a:r>
              <a:rPr b="1" lang="en-US"/>
              <a:t>filtered</a:t>
            </a:r>
            <a:r>
              <a:rPr lang="en-US"/>
              <a:t> the reviews containing </a:t>
            </a:r>
            <a:r>
              <a:rPr b="1" lang="en-US">
                <a:solidFill>
                  <a:srgbClr val="FF0000"/>
                </a:solidFill>
              </a:rPr>
              <a:t>non-ASCII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/>
              <a:t>characters for the purity, just like </a:t>
            </a:r>
            <a:r>
              <a:rPr b="1" lang="en-US"/>
              <a:t>emoji</a:t>
            </a:r>
            <a:r>
              <a:rPr lang="en-US"/>
              <a:t>, </a:t>
            </a:r>
            <a:r>
              <a:rPr b="1" lang="en-US"/>
              <a:t>non-English characters</a:t>
            </a:r>
            <a:r>
              <a:rPr lang="en-US"/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2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800"/>
              <a:t>González</a:t>
            </a:r>
            <a:endParaRPr sz="2800"/>
          </a:p>
          <a:p>
            <a:pPr indent="0" lvl="2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800"/>
              <a:t>trémula</a:t>
            </a:r>
            <a:endParaRPr sz="2800"/>
          </a:p>
          <a:p>
            <a:pPr indent="0" lvl="2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800"/>
              <a:t>7º</a:t>
            </a:r>
            <a:endParaRPr sz="2800"/>
          </a:p>
          <a:p>
            <a:pPr indent="0" lvl="2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800"/>
              <a:t>½</a:t>
            </a:r>
            <a:endParaRPr sz="2800"/>
          </a:p>
          <a:p>
            <a:pPr indent="0" lvl="2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800"/>
              <a:t>Sööt</a:t>
            </a:r>
            <a:endParaRPr sz="2800"/>
          </a:p>
          <a:p>
            <a:pPr indent="0" lvl="2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800"/>
              <a:t>7º</a:t>
            </a:r>
            <a:endParaRPr sz="2800"/>
          </a:p>
          <a:p>
            <a:pPr indent="0" lvl="2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800"/>
              <a:t>años</a:t>
            </a:r>
            <a:endParaRPr sz="2800"/>
          </a:p>
        </p:txBody>
      </p:sp>
      <p:sp>
        <p:nvSpPr>
          <p:cNvPr id="144" name="Google Shape;1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7"/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Jingying Gao (zxxxxxxx)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/>
          <p:nvPr>
            <p:ph type="title"/>
          </p:nvPr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Dataset Analysis: 3. Satirical comments</a:t>
            </a:r>
            <a:endParaRPr/>
          </a:p>
        </p:txBody>
      </p:sp>
      <p:sp>
        <p:nvSpPr>
          <p:cNvPr id="151" name="Google Shape;151;p8"/>
          <p:cNvSpPr txBox="1"/>
          <p:nvPr>
            <p:ph idx="1" type="body"/>
          </p:nvPr>
        </p:nvSpPr>
        <p:spPr>
          <a:xfrm>
            <a:off x="231648" y="975360"/>
            <a:ext cx="11631168" cy="5035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/>
              <a:t>There are many sarcastic reviews in the datasets, just like the review</a:t>
            </a:r>
            <a:endParaRPr sz="2400"/>
          </a:p>
          <a:p>
            <a:pPr indent="0" lvl="1" marL="533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i="1" lang="en-US" sz="2000">
                <a:solidFill>
                  <a:srgbClr val="2F5496"/>
                </a:solidFill>
              </a:rPr>
              <a:t>look so good Yes, it cannot be better any more</a:t>
            </a:r>
            <a:endParaRPr i="1" sz="2000">
              <a:solidFill>
                <a:srgbClr val="2F5496"/>
              </a:solidFill>
            </a:endParaRPr>
          </a:p>
          <a:p>
            <a:pPr indent="0" lvl="1" marL="533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rPr lang="en-US" sz="2000"/>
              <a:t>literally we'd regard it as an </a:t>
            </a:r>
            <a:r>
              <a:rPr b="1" lang="en-US" sz="2000">
                <a:solidFill>
                  <a:srgbClr val="548135"/>
                </a:solidFill>
              </a:rPr>
              <a:t>optimistic</a:t>
            </a:r>
            <a:r>
              <a:rPr lang="en-US" sz="2000"/>
              <a:t> review, but the reviewer gave </a:t>
            </a:r>
            <a:r>
              <a:rPr b="1" lang="en-US" sz="2000"/>
              <a:t>only </a:t>
            </a:r>
            <a:r>
              <a:rPr b="1" lang="en-US" sz="2000">
                <a:solidFill>
                  <a:srgbClr val="FF0000"/>
                </a:solidFill>
              </a:rPr>
              <a:t>1</a:t>
            </a:r>
            <a:r>
              <a:rPr b="1" lang="en-US" sz="2000"/>
              <a:t> marks as the lowest mark</a:t>
            </a:r>
            <a:r>
              <a:rPr lang="en-US" sz="2000"/>
              <a:t>.</a:t>
            </a:r>
            <a:endParaRPr sz="2000"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400"/>
              <a:t>In the future, for avoidance of large model to be confused, we will </a:t>
            </a:r>
            <a:r>
              <a:rPr b="1" lang="en-US" sz="2400">
                <a:solidFill>
                  <a:srgbClr val="FF0000"/>
                </a:solidFill>
              </a:rPr>
              <a:t>re-annotate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lang="en-US" sz="2400"/>
              <a:t>the labels by the other three large models.</a:t>
            </a:r>
            <a:endParaRPr/>
          </a:p>
        </p:txBody>
      </p:sp>
      <p:sp>
        <p:nvSpPr>
          <p:cNvPr id="152" name="Google Shape;15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p8"/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Jingying Gao (zxxxxxxx)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648" y="3584269"/>
            <a:ext cx="11810053" cy="1612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>
            <p:ph type="title"/>
          </p:nvPr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Dataset Analysis: 4. The centrists rated 5 or 6</a:t>
            </a:r>
            <a:endParaRPr/>
          </a:p>
        </p:txBody>
      </p:sp>
      <p:sp>
        <p:nvSpPr>
          <p:cNvPr id="160" name="Google Shape;160;p9"/>
          <p:cNvSpPr txBox="1"/>
          <p:nvPr>
            <p:ph idx="1" type="body"/>
          </p:nvPr>
        </p:nvSpPr>
        <p:spPr>
          <a:xfrm>
            <a:off x="231648" y="975360"/>
            <a:ext cx="11631168" cy="5035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/>
              <a:t>For example, IMDB's rates is in </a:t>
            </a:r>
            <a:r>
              <a:rPr b="1" lang="en-US" sz="2400"/>
              <a:t>[1, 10]</a:t>
            </a:r>
            <a:r>
              <a:rPr lang="en-US" sz="2400"/>
              <a:t>. 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/>
              <a:t>For </a:t>
            </a:r>
            <a:r>
              <a:rPr b="1" lang="en-US" sz="2400"/>
              <a:t>[4, 7]. </a:t>
            </a:r>
            <a:r>
              <a:rPr lang="en-US" sz="2400"/>
              <a:t>Because they are </a:t>
            </a:r>
            <a:r>
              <a:rPr b="1" lang="en-US" sz="2400">
                <a:solidFill>
                  <a:srgbClr val="FF0000"/>
                </a:solidFill>
              </a:rPr>
              <a:t>not clear enough</a:t>
            </a:r>
            <a:r>
              <a:rPr lang="en-US" sz="2400"/>
              <a:t> to show the attitudes, later we'd consider </a:t>
            </a:r>
            <a:r>
              <a:rPr b="1" lang="en-US" sz="2400">
                <a:solidFill>
                  <a:schemeClr val="accent1"/>
                </a:solidFill>
              </a:rPr>
              <a:t>re-annotate</a:t>
            </a:r>
            <a:r>
              <a:rPr lang="en-US" sz="2400"/>
              <a:t> them again. 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/>
              <a:t>Besides, large models also need to learn some </a:t>
            </a:r>
            <a:r>
              <a:rPr b="1" lang="en-US" sz="2400"/>
              <a:t>necessary centrists reviews</a:t>
            </a:r>
            <a:r>
              <a:rPr lang="en-US" sz="2400"/>
              <a:t> as the training data.</a:t>
            </a:r>
            <a:endParaRPr sz="2400"/>
          </a:p>
        </p:txBody>
      </p:sp>
      <p:sp>
        <p:nvSpPr>
          <p:cNvPr id="161" name="Google Shape;16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Jingying Gao (zxxxxxxx)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7168" y="2357355"/>
            <a:ext cx="5312782" cy="4364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 txBox="1"/>
          <p:nvPr>
            <p:ph type="title"/>
          </p:nvPr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Multi-Model Annotation Pipeline</a:t>
            </a:r>
            <a:endParaRPr/>
          </a:p>
        </p:txBody>
      </p:sp>
      <p:sp>
        <p:nvSpPr>
          <p:cNvPr id="169" name="Google Shape;169;p10"/>
          <p:cNvSpPr txBox="1"/>
          <p:nvPr>
            <p:ph idx="1" type="body"/>
          </p:nvPr>
        </p:nvSpPr>
        <p:spPr>
          <a:xfrm>
            <a:off x="231648" y="975360"/>
            <a:ext cx="11631168" cy="5035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032"/>
              <a:buNone/>
            </a:pPr>
            <a:r>
              <a:rPr b="1" lang="en-US"/>
              <a:t>Goal</a:t>
            </a:r>
            <a:r>
              <a:rPr lang="en-US"/>
              <a:t>: Use LLMs to automatically generate high-quality sentiment labels for movie reviews, serving as training data for the downstream fine-tuned model.</a:t>
            </a:r>
            <a:endParaRPr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032"/>
              <a:buNone/>
            </a:pPr>
            <a:r>
              <a:t/>
            </a:r>
            <a:endParaRPr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032"/>
              <a:buNone/>
            </a:pPr>
            <a:r>
              <a:rPr b="1" lang="en-US"/>
              <a:t>3-class labels</a:t>
            </a:r>
            <a:r>
              <a:rPr lang="en-US"/>
              <a:t>: positive (+1) / negative (−1) / mixed (0)</a:t>
            </a:r>
            <a:endParaRPr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032"/>
              <a:buNone/>
            </a:pPr>
            <a:r>
              <a:t/>
            </a:r>
            <a:endParaRPr b="1"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032"/>
              <a:buNone/>
            </a:pPr>
            <a:r>
              <a:rPr b="1" lang="en-US"/>
              <a:t>Multi-LLM Consensus Mechanism</a:t>
            </a:r>
            <a:r>
              <a:rPr lang="en-US"/>
              <a:t> (key design):</a:t>
            </a:r>
            <a:endParaRPr/>
          </a:p>
          <a:p>
            <a:pPr indent="-371987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9032"/>
              <a:buChar char="•"/>
            </a:pPr>
            <a:r>
              <a:rPr b="1" lang="en-US"/>
              <a:t>Annotator A</a:t>
            </a:r>
            <a:r>
              <a:rPr lang="en-US"/>
              <a:t>: GPT-4o-mini (OpenAI)</a:t>
            </a:r>
            <a:endParaRPr/>
          </a:p>
          <a:p>
            <a:pPr indent="-371987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9032"/>
              <a:buChar char="•"/>
            </a:pPr>
            <a:r>
              <a:rPr b="1" lang="en-US"/>
              <a:t>Annotator B</a:t>
            </a:r>
            <a:r>
              <a:rPr lang="en-US"/>
              <a:t>: Gemini-2.5-flash (Google)</a:t>
            </a:r>
            <a:endParaRPr/>
          </a:p>
          <a:p>
            <a:pPr indent="-371987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9032"/>
              <a:buChar char="•"/>
            </a:pPr>
            <a:r>
              <a:rPr lang="en-US"/>
              <a:t>Judge: GPT-4o (OpenAI)</a:t>
            </a:r>
            <a:endParaRPr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032"/>
              <a:buNone/>
            </a:pPr>
            <a:r>
              <a:t/>
            </a:r>
            <a:endParaRPr b="1"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032"/>
              <a:buNone/>
            </a:pPr>
            <a:r>
              <a:rPr b="1" lang="en-US"/>
              <a:t>Three-branch Consensus Routing</a:t>
            </a:r>
            <a:r>
              <a:rPr lang="en-US"/>
              <a:t>:</a:t>
            </a:r>
            <a:endParaRPr/>
          </a:p>
          <a:p>
            <a:pPr indent="-371987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9032"/>
              <a:buChar char="•"/>
            </a:pPr>
            <a:r>
              <a:rPr b="1" lang="en-US"/>
              <a:t>Strong consensus</a:t>
            </a:r>
            <a:r>
              <a:rPr lang="en-US"/>
              <a:t>: A &amp; B agree on both sentiment and difficulty → accept directly</a:t>
            </a:r>
            <a:endParaRPr/>
          </a:p>
          <a:p>
            <a:pPr indent="-371987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9032"/>
              <a:buChar char="•"/>
            </a:pPr>
            <a:r>
              <a:rPr b="1" lang="en-US"/>
              <a:t>Weak consensus</a:t>
            </a:r>
            <a:r>
              <a:rPr lang="en-US"/>
              <a:t>: Same sentiment, different difficulty → take the higher difficulty</a:t>
            </a:r>
            <a:endParaRPr/>
          </a:p>
          <a:p>
            <a:pPr indent="-371987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29032"/>
              <a:buChar char="•"/>
            </a:pPr>
            <a:r>
              <a:rPr b="1" lang="en-US"/>
              <a:t>Zero consensus</a:t>
            </a:r>
            <a:r>
              <a:rPr lang="en-US"/>
              <a:t>: Sentiment conflict → invoke </a:t>
            </a:r>
            <a:r>
              <a:rPr b="1" lang="en-US"/>
              <a:t>GPT-4o as Judge</a:t>
            </a:r>
            <a:r>
              <a:rPr lang="en-US"/>
              <a:t> for final verdict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9032"/>
              <a:buNone/>
            </a:pPr>
            <a:r>
              <a:t/>
            </a:r>
            <a:endParaRPr/>
          </a:p>
        </p:txBody>
      </p:sp>
      <p:sp>
        <p:nvSpPr>
          <p:cNvPr id="170" name="Google Shape;17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Alan Blair (zxxxxxxx)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9099" y="1463276"/>
            <a:ext cx="3512499" cy="3086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67400" y="4599519"/>
            <a:ext cx="2469800" cy="89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 txBox="1"/>
          <p:nvPr>
            <p:ph type="title"/>
          </p:nvPr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Multi-Model Annotation Pipeline</a:t>
            </a:r>
            <a:endParaRPr/>
          </a:p>
        </p:txBody>
      </p:sp>
      <p:sp>
        <p:nvSpPr>
          <p:cNvPr id="179" name="Google Shape;179;p11"/>
          <p:cNvSpPr txBox="1"/>
          <p:nvPr>
            <p:ph idx="1" type="body"/>
          </p:nvPr>
        </p:nvSpPr>
        <p:spPr>
          <a:xfrm>
            <a:off x="231648" y="975360"/>
            <a:ext cx="11631168" cy="5035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b="1" lang="en-US"/>
              <a:t>Each annotated record contains</a:t>
            </a:r>
            <a:r>
              <a:rPr lang="en-US"/>
              <a:t>: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sentiment: label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difficulty: 1–3 (1=explicit, 2=contrastive, 3=implicit/sarcastic)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ambiguous_flag: whether reasonable disagreement remains</a:t>
            </a:r>
            <a:endParaRPr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b="1" lang="en-US"/>
              <a:t>Output statistic：</a:t>
            </a:r>
            <a:endParaRPr/>
          </a:p>
        </p:txBody>
      </p:sp>
      <p:sp>
        <p:nvSpPr>
          <p:cNvPr id="180" name="Google Shape;18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11"/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Fatemeh Morgani (zxxxxxxx)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2" name="Google Shape;182;p11"/>
          <p:cNvGraphicFramePr/>
          <p:nvPr/>
        </p:nvGraphicFramePr>
        <p:xfrm>
          <a:off x="3826877" y="41143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{139007F6-F729-45E2-AEAE-6890A6F9BD50}</a:tableStyleId>
              </a:tblPr>
              <a:tblGrid>
                <a:gridCol w="1168575"/>
                <a:gridCol w="1024875"/>
                <a:gridCol w="1092375"/>
              </a:tblGrid>
              <a:tr h="3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Category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Count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Proportion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No Dispute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22,400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79.16%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Disputed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5,896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20.83%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 txBox="1"/>
          <p:nvPr>
            <p:ph type="title"/>
          </p:nvPr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The lexicon: VADER</a:t>
            </a:r>
            <a:endParaRPr/>
          </a:p>
        </p:txBody>
      </p:sp>
      <p:sp>
        <p:nvSpPr>
          <p:cNvPr id="188" name="Google Shape;188;p12"/>
          <p:cNvSpPr txBox="1"/>
          <p:nvPr>
            <p:ph idx="1" type="body"/>
          </p:nvPr>
        </p:nvSpPr>
        <p:spPr>
          <a:xfrm>
            <a:off x="231648" y="975360"/>
            <a:ext cx="11631168" cy="5035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⮚"/>
            </a:pPr>
            <a:r>
              <a:rPr b="1" lang="en-US">
                <a:solidFill>
                  <a:srgbClr val="00B0F0"/>
                </a:solidFill>
              </a:rPr>
              <a:t>V</a:t>
            </a:r>
            <a:r>
              <a:rPr lang="en-US"/>
              <a:t>alence </a:t>
            </a:r>
            <a:r>
              <a:rPr b="1" lang="en-US">
                <a:solidFill>
                  <a:srgbClr val="00B0F0"/>
                </a:solidFill>
              </a:rPr>
              <a:t>A</a:t>
            </a:r>
            <a:r>
              <a:rPr lang="en-US"/>
              <a:t>ware </a:t>
            </a:r>
            <a:r>
              <a:rPr b="1" lang="en-US">
                <a:solidFill>
                  <a:srgbClr val="00B0F0"/>
                </a:solidFill>
              </a:rPr>
              <a:t>D</a:t>
            </a:r>
            <a:r>
              <a:rPr lang="en-US"/>
              <a:t>ictionary and s</a:t>
            </a:r>
            <a:r>
              <a:rPr b="1" lang="en-US">
                <a:solidFill>
                  <a:srgbClr val="00B0F0"/>
                </a:solidFill>
              </a:rPr>
              <a:t>E</a:t>
            </a:r>
            <a:r>
              <a:rPr lang="en-US"/>
              <a:t>ntiment </a:t>
            </a:r>
            <a:r>
              <a:rPr b="1" lang="en-US">
                <a:solidFill>
                  <a:srgbClr val="00B0F0"/>
                </a:solidFill>
              </a:rPr>
              <a:t>R</a:t>
            </a:r>
            <a:r>
              <a:rPr lang="en-US"/>
              <a:t>easoner (VADER) 	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https://github.com/cjhutto/vaderSentiment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	it can get sentiment value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	from </a:t>
            </a:r>
            <a:r>
              <a:rPr b="1" lang="en-US"/>
              <a:t>"[–4]</a:t>
            </a:r>
            <a:r>
              <a:rPr lang="en-US"/>
              <a:t> </a:t>
            </a:r>
            <a:r>
              <a:rPr lang="en-US">
                <a:solidFill>
                  <a:srgbClr val="C55A11"/>
                </a:solidFill>
              </a:rPr>
              <a:t>Extremely Negative</a:t>
            </a:r>
            <a:r>
              <a:rPr lang="en-US"/>
              <a:t>" to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/>
              <a:t>	"[4]</a:t>
            </a:r>
            <a:r>
              <a:rPr lang="en-US"/>
              <a:t> </a:t>
            </a:r>
            <a:r>
              <a:rPr lang="en-US">
                <a:solidFill>
                  <a:srgbClr val="00B050"/>
                </a:solidFill>
              </a:rPr>
              <a:t>Extremely Positive</a:t>
            </a:r>
            <a:r>
              <a:rPr lang="en-US"/>
              <a:t>",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	with allowance for “</a:t>
            </a:r>
            <a:r>
              <a:rPr b="1" lang="en-US"/>
              <a:t>[0]</a:t>
            </a:r>
            <a:r>
              <a:rPr lang="en-US"/>
              <a:t> </a:t>
            </a:r>
            <a:r>
              <a:rPr lang="en-US">
                <a:solidFill>
                  <a:srgbClr val="2F5496"/>
                </a:solidFill>
              </a:rPr>
              <a:t>Neutral</a:t>
            </a:r>
            <a:r>
              <a:rPr lang="en-US"/>
              <a:t>”.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And we will make it simple as a binary labels.</a:t>
            </a:r>
            <a:endParaRPr/>
          </a:p>
        </p:txBody>
      </p:sp>
      <p:sp>
        <p:nvSpPr>
          <p:cNvPr id="189" name="Google Shape;18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12"/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Jingying Gao (zxxxxxxx)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"/>
          <p:cNvSpPr txBox="1"/>
          <p:nvPr>
            <p:ph type="title"/>
          </p:nvPr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Method(s)</a:t>
            </a:r>
            <a:endParaRPr/>
          </a:p>
        </p:txBody>
      </p:sp>
      <p:sp>
        <p:nvSpPr>
          <p:cNvPr id="196" name="Google Shape;196;p15"/>
          <p:cNvSpPr txBox="1"/>
          <p:nvPr>
            <p:ph idx="1" type="body"/>
          </p:nvPr>
        </p:nvSpPr>
        <p:spPr>
          <a:xfrm>
            <a:off x="5443855" y="295275"/>
            <a:ext cx="4488180" cy="606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b="1"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TF-IDF + LinearSVC</a:t>
            </a:r>
            <a:endParaRPr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15"/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Presenter: Jingying Gao (zxxxxxxx)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5"/>
          <p:cNvSpPr txBox="1"/>
          <p:nvPr/>
        </p:nvSpPr>
        <p:spPr>
          <a:xfrm>
            <a:off x="405130" y="1927860"/>
            <a:ext cx="5581650" cy="4154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Symbols"/>
              <a:buChar char="⮚"/>
            </a:pP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TF (Term Frequency)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9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how often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word appears in this review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Symbols"/>
              <a:buChar char="⮚"/>
            </a:pPr>
            <a:r>
              <a:rPr b="1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IDF (Inverse Document Frequency)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9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how rare</a:t>
            </a: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word is across all reviews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⮚"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Result: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emotional words like "masterpiece" or "awful" get high scores; common words like "the" get near zero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5"/>
          <p:cNvSpPr txBox="1"/>
          <p:nvPr/>
        </p:nvSpPr>
        <p:spPr>
          <a:xfrm>
            <a:off x="946785" y="1322070"/>
            <a:ext cx="5121275" cy="605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TF-IDF: From Text to Features</a:t>
            </a:r>
            <a:endParaRPr b="1" i="0" sz="20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>
            <a:off x="7836535" y="1293495"/>
            <a:ext cx="2480310" cy="39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Design Choices</a:t>
            </a:r>
            <a:endParaRPr b="1" i="0" sz="20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5"/>
          <p:cNvSpPr txBox="1"/>
          <p:nvPr/>
        </p:nvSpPr>
        <p:spPr>
          <a:xfrm>
            <a:off x="6655435" y="2010410"/>
            <a:ext cx="5455920" cy="3778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●"/>
            </a:pPr>
            <a:r>
              <a:rPr b="1" i="0" lang="en-US" sz="1600" u="none" cap="none" strike="noStrike">
                <a:solidFill>
                  <a:srgbClr val="000000"/>
                </a:solidFill>
                <a:highlight>
                  <a:srgbClr val="C0C0C0"/>
                </a:highlight>
                <a:latin typeface="Arial"/>
                <a:ea typeface="Arial"/>
                <a:cs typeface="Arial"/>
                <a:sym typeface="Arial"/>
              </a:rPr>
              <a:t>sublinear_tf = True</a:t>
            </a:r>
            <a:b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it: dampens high-frequency word dominance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●"/>
            </a:pPr>
            <a:r>
              <a:rPr b="1" i="0" lang="en-US" sz="1600" u="none" cap="none" strike="noStrike">
                <a:solidFill>
                  <a:srgbClr val="000000"/>
                </a:solidFill>
                <a:highlight>
                  <a:srgbClr val="C0C0C0"/>
                </a:highlight>
                <a:latin typeface="Arial"/>
                <a:ea typeface="Arial"/>
                <a:cs typeface="Arial"/>
                <a:sym typeface="Arial"/>
              </a:rPr>
              <a:t>ngram_range = (1, 2)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unigram + bigram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●"/>
            </a:pPr>
            <a:r>
              <a:rPr b="1" i="0" lang="en-US" sz="1600" u="none" cap="none" strike="noStrike">
                <a:solidFill>
                  <a:srgbClr val="000000"/>
                </a:solidFill>
                <a:highlight>
                  <a:srgbClr val="C0C0C0"/>
                </a:highlight>
                <a:latin typeface="Arial"/>
                <a:ea typeface="Arial"/>
                <a:cs typeface="Arial"/>
                <a:sym typeface="Arial"/>
              </a:rPr>
              <a:t>max_features = 50,000; min_df = 2</a:t>
            </a:r>
            <a:b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 keep features appearing in at least 2 reviews to reduce noise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/>
          <p:nvPr>
            <p:ph type="title"/>
          </p:nvPr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Method(s)</a:t>
            </a:r>
            <a:endParaRPr/>
          </a:p>
        </p:txBody>
      </p:sp>
      <p:sp>
        <p:nvSpPr>
          <p:cNvPr id="208" name="Google Shape;208;p16"/>
          <p:cNvSpPr txBox="1"/>
          <p:nvPr>
            <p:ph idx="1" type="body"/>
          </p:nvPr>
        </p:nvSpPr>
        <p:spPr>
          <a:xfrm>
            <a:off x="5443855" y="295275"/>
            <a:ext cx="4488180" cy="606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b="1"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TF-IDF + LinearSVC</a:t>
            </a:r>
            <a:endParaRPr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Presenter: Jingying Gao (zxxxxxxx)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6"/>
          <p:cNvSpPr txBox="1"/>
          <p:nvPr/>
        </p:nvSpPr>
        <p:spPr>
          <a:xfrm>
            <a:off x="427990" y="1999615"/>
            <a:ext cx="5765800" cy="4154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Noto Sans Symbols"/>
              <a:buChar char="⮚"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Finds a hyperplane in 50,000-dimensional space that separates classes with the </a:t>
            </a:r>
            <a:r>
              <a:rPr b="0" i="0" lang="en-US" sz="19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maximum margin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⮚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closest points to the boundary are called </a:t>
            </a:r>
            <a:r>
              <a:rPr b="0" i="0" lang="en-US" sz="15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support vectors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they define the boundary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⮚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3-class classification: </a:t>
            </a:r>
            <a:r>
              <a:rPr b="0" i="0" lang="en-US" sz="15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One-vs-Rest strategy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trains 3 binary classifiers, takes the highest score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6"/>
          <p:cNvSpPr txBox="1"/>
          <p:nvPr/>
        </p:nvSpPr>
        <p:spPr>
          <a:xfrm>
            <a:off x="427990" y="1322070"/>
            <a:ext cx="6087745" cy="605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LinearSVC: Learning the Decision Boundary</a:t>
            </a:r>
            <a:endParaRPr b="1" i="0" sz="20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6"/>
          <p:cNvSpPr txBox="1"/>
          <p:nvPr/>
        </p:nvSpPr>
        <p:spPr>
          <a:xfrm>
            <a:off x="7836535" y="1293495"/>
            <a:ext cx="3423920" cy="39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Default Configuration</a:t>
            </a:r>
            <a:endParaRPr b="1" i="0" sz="20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6"/>
          <p:cNvSpPr txBox="1"/>
          <p:nvPr/>
        </p:nvSpPr>
        <p:spPr>
          <a:xfrm>
            <a:off x="7446010" y="2240280"/>
            <a:ext cx="4258310" cy="19386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●"/>
            </a:pPr>
            <a:r>
              <a:rPr b="1" i="0" lang="en-US" sz="1600" u="none" cap="none" strike="noStrike">
                <a:solidFill>
                  <a:srgbClr val="000000"/>
                </a:solidFill>
                <a:highlight>
                  <a:srgbClr val="C0C0C0"/>
                </a:highlight>
                <a:latin typeface="Arial"/>
                <a:ea typeface="Arial"/>
                <a:cs typeface="Arial"/>
                <a:sym typeface="Arial"/>
              </a:rPr>
              <a:t>C = 1.0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balanced regularization, neither too strict nor too loose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●"/>
            </a:pPr>
            <a:r>
              <a:rPr b="1" i="0" lang="en-US" sz="1600" u="none" cap="none" strike="noStrike">
                <a:solidFill>
                  <a:srgbClr val="000000"/>
                </a:solidFill>
                <a:highlight>
                  <a:srgbClr val="C0C0C0"/>
                </a:highlight>
                <a:latin typeface="Arial"/>
                <a:ea typeface="Arial"/>
                <a:cs typeface="Arial"/>
                <a:sym typeface="Arial"/>
              </a:rPr>
              <a:t>class_weight = None</a:t>
            </a:r>
            <a:endParaRPr b="1" i="0" sz="1600" u="none" cap="none" strike="noStrike">
              <a:solidFill>
                <a:srgbClr val="000000"/>
              </a:solidFill>
              <a:highlight>
                <a:srgbClr val="C0C0C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highlight>
                <a:srgbClr val="C0C0C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"/>
          <p:cNvSpPr txBox="1"/>
          <p:nvPr>
            <p:ph type="title"/>
          </p:nvPr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Method(s)</a:t>
            </a:r>
            <a:endParaRPr/>
          </a:p>
        </p:txBody>
      </p:sp>
      <p:sp>
        <p:nvSpPr>
          <p:cNvPr id="220" name="Google Shape;220;p17"/>
          <p:cNvSpPr txBox="1"/>
          <p:nvPr>
            <p:ph idx="1" type="body"/>
          </p:nvPr>
        </p:nvSpPr>
        <p:spPr>
          <a:xfrm>
            <a:off x="6654165" y="295275"/>
            <a:ext cx="2290445" cy="606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b="1"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Presenter: Jingying Gao (zxxxxxxx)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7"/>
          <p:cNvSpPr txBox="1"/>
          <p:nvPr/>
        </p:nvSpPr>
        <p:spPr>
          <a:xfrm>
            <a:off x="784860" y="1134110"/>
            <a:ext cx="10908030" cy="493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⮚"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Pre-training: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BERT starts from 3.3 billion words of </a:t>
            </a: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pre-training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 unlike SVM which starts from zero, it </a:t>
            </a:r>
            <a:r>
              <a:rPr b="0" i="0" lang="en-US" sz="17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already 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understands English grammar, semantics, and context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⮚"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Bidirectional attention: </a:t>
            </a:r>
            <a:b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BERT reads the </a:t>
            </a:r>
            <a:r>
              <a:rPr b="0" i="0" lang="en-US" sz="17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whole sentence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 once — every word attends to every other word simultaneously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⮚"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[CLS] token: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Special token added at the start, summarizes the whole sentence into a </a:t>
            </a:r>
            <a:r>
              <a:rPr b="0" i="0" lang="en-US" sz="17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768-dim vector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after 12 layers.</a:t>
            </a:r>
            <a:b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vector → linear classification head → 3 class logits → softmax → prediction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Noto Sans Symbols"/>
              <a:buChar char="⮚"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Fine-tuning: </a:t>
            </a:r>
            <a:b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Classification head is randomly initialized → before fine-tuning, predictions are near-random → fine-tuning </a:t>
            </a:r>
            <a:r>
              <a:rPr b="0" i="0" lang="en-US" sz="17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adjusts all 110M parameters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toward this specific task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"/>
          <p:cNvSpPr txBox="1"/>
          <p:nvPr>
            <p:ph type="title"/>
          </p:nvPr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Method(s)</a:t>
            </a:r>
            <a:endParaRPr/>
          </a:p>
        </p:txBody>
      </p:sp>
      <p:sp>
        <p:nvSpPr>
          <p:cNvPr id="229" name="Google Shape;229;p18"/>
          <p:cNvSpPr txBox="1"/>
          <p:nvPr>
            <p:ph idx="1" type="body"/>
          </p:nvPr>
        </p:nvSpPr>
        <p:spPr>
          <a:xfrm>
            <a:off x="6654165" y="295275"/>
            <a:ext cx="2290445" cy="606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b="1"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Presenter: Jingying Gao (zxxxxxxx)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8"/>
          <p:cNvSpPr txBox="1"/>
          <p:nvPr/>
        </p:nvSpPr>
        <p:spPr>
          <a:xfrm>
            <a:off x="1095375" y="1979930"/>
            <a:ext cx="3543935" cy="3241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MAX_LEN                 = 128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BATCH_SIZE            = 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EPOCHS                  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LR                             = 2e-5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WARMUP_RATIO     = 0.1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VAL_RATIO               = 0.1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RANDOM_SEED       = 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427990" y="1322070"/>
            <a:ext cx="6087745" cy="605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Fine-tuning Strategy: Setup and Best Checkpoint</a:t>
            </a:r>
            <a:endParaRPr b="1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4" name="Google Shape;234;p18"/>
          <p:cNvGraphicFramePr/>
          <p:nvPr/>
        </p:nvGraphicFramePr>
        <p:xfrm>
          <a:off x="5962015" y="19977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{6554BEF1-F271-4E62-9AB0-64FB7E8CD77D}</a:tableStyleId>
              </a:tblPr>
              <a:tblGrid>
                <a:gridCol w="1268725"/>
                <a:gridCol w="2165975"/>
                <a:gridCol w="2142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Epoch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Val Accuracy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Val Macro-F1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0.888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0.692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0.898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0.713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0.885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0.742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35" name="Google Shape;235;p18"/>
          <p:cNvSpPr txBox="1"/>
          <p:nvPr/>
        </p:nvSpPr>
        <p:spPr>
          <a:xfrm>
            <a:off x="5828030" y="3992880"/>
            <a:ext cx="5845175" cy="1761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Epoch 3: Accuracy slightly drops but Macro-F1 keeps rising → model improves on minority class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</a:t>
            </a: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Macro-F1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over Accuracy: with class </a:t>
            </a: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imbalance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accuracy can be high by ignoring neutral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/>
          <p:nvPr>
            <p:ph type="title"/>
          </p:nvPr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Method(s)</a:t>
            </a:r>
            <a:endParaRPr/>
          </a:p>
        </p:txBody>
      </p:sp>
      <p:sp>
        <p:nvSpPr>
          <p:cNvPr id="241" name="Google Shape;241;p19"/>
          <p:cNvSpPr txBox="1"/>
          <p:nvPr>
            <p:ph idx="1" type="body"/>
          </p:nvPr>
        </p:nvSpPr>
        <p:spPr>
          <a:xfrm>
            <a:off x="231648" y="975360"/>
            <a:ext cx="12042414" cy="2998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b="1" lang="en-US"/>
              <a:t>Qwen3 Supervised Fine-tuning</a:t>
            </a:r>
            <a:endParaRPr b="1"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b="1" lang="en-US"/>
              <a:t>Overall workflow:</a:t>
            </a:r>
            <a:endParaRPr b="1"/>
          </a:p>
          <a:p>
            <a:pPr indent="-457200" lvl="1" marL="965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2800"/>
              <a:t>Built the Qwen supervised fine-tuning pipeline</a:t>
            </a:r>
            <a:endParaRPr sz="2800"/>
          </a:p>
          <a:p>
            <a:pPr indent="-457200" lvl="1" marL="965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2800"/>
              <a:t>Trained Qwen3-0.6B / 1.7B / 4.0B with LoRA to study scaling trends</a:t>
            </a:r>
            <a:endParaRPr sz="2800"/>
          </a:p>
          <a:p>
            <a:pPr indent="-457200" lvl="1" marL="965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2800"/>
              <a:t>Compared fine-tuned and non-fine-tuned performance</a:t>
            </a:r>
            <a:endParaRPr sz="2400"/>
          </a:p>
        </p:txBody>
      </p:sp>
      <p:sp>
        <p:nvSpPr>
          <p:cNvPr id="242" name="Google Shape;24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Kejing Wang (z5526880)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9"/>
          <p:cNvSpPr txBox="1"/>
          <p:nvPr/>
        </p:nvSpPr>
        <p:spPr>
          <a:xfrm>
            <a:off x="298939" y="4278239"/>
            <a:ext cx="1123656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finding: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Fine-tuning consistently improved all Qwen variants;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Qwen3-4.0B achieved the best final performance, while Qwen3-1.7B showed the largest gain.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"/>
          <p:cNvSpPr txBox="1"/>
          <p:nvPr>
            <p:ph type="title"/>
          </p:nvPr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Method(s)</a:t>
            </a:r>
            <a:endParaRPr/>
          </a:p>
        </p:txBody>
      </p:sp>
      <p:sp>
        <p:nvSpPr>
          <p:cNvPr id="250" name="Google Shape;250;p21"/>
          <p:cNvSpPr txBox="1"/>
          <p:nvPr>
            <p:ph idx="1" type="body"/>
          </p:nvPr>
        </p:nvSpPr>
        <p:spPr>
          <a:xfrm>
            <a:off x="231648" y="975360"/>
            <a:ext cx="11631168" cy="5035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b="1" lang="en-US"/>
              <a:t>Qwen3 Supervised Fine-tuning -- </a:t>
            </a:r>
            <a:r>
              <a:rPr b="1" lang="en-US" sz="2400"/>
              <a:t>Dataset construction</a:t>
            </a:r>
            <a:endParaRPr b="1" sz="2400"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400"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b="1" lang="en-US" sz="2400"/>
              <a:t>   </a:t>
            </a:r>
            <a:endParaRPr sz="2400"/>
          </a:p>
        </p:txBody>
      </p:sp>
      <p:sp>
        <p:nvSpPr>
          <p:cNvPr id="251" name="Google Shape;251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Kejing Wang (z5526880)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391" y="1814196"/>
            <a:ext cx="10168657" cy="3750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0"/>
          <p:cNvSpPr txBox="1"/>
          <p:nvPr>
            <p:ph type="title"/>
          </p:nvPr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Method(s)</a:t>
            </a:r>
            <a:endParaRPr/>
          </a:p>
        </p:txBody>
      </p:sp>
      <p:sp>
        <p:nvSpPr>
          <p:cNvPr id="259" name="Google Shape;259;p20"/>
          <p:cNvSpPr txBox="1"/>
          <p:nvPr>
            <p:ph idx="1" type="body"/>
          </p:nvPr>
        </p:nvSpPr>
        <p:spPr>
          <a:xfrm>
            <a:off x="231648" y="975360"/>
            <a:ext cx="11631168" cy="5035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b="1" lang="en-US"/>
              <a:t>Qwen3 Supervised Fine-tuning -- Motivation</a:t>
            </a:r>
            <a:endParaRPr b="1"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b="1" lang="en-US"/>
              <a:t>Why </a:t>
            </a:r>
            <a:r>
              <a:rPr b="1" lang="en-US"/>
              <a:t>CoT</a:t>
            </a:r>
            <a:r>
              <a:rPr b="1" lang="en-US"/>
              <a:t>?</a:t>
            </a:r>
            <a:endParaRPr b="1"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/>
          </a:p>
          <a:p>
            <a:pPr indent="-457200" lvl="0" marL="508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US" sz="2400"/>
              <a:t>Easy to analysis.</a:t>
            </a:r>
            <a:endParaRPr sz="2400"/>
          </a:p>
          <a:p>
            <a:pPr indent="-457200" lvl="0" marL="508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US" sz="2400"/>
              <a:t>I</a:t>
            </a:r>
            <a:r>
              <a:rPr lang="en-US" sz="2400"/>
              <a:t>mprove the accuracy of the model’s responses. </a:t>
            </a:r>
            <a:endParaRPr sz="2400"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AutoNum type="arabicPeriod"/>
            </a:pPr>
            <a:r>
              <a:rPr lang="en-US" sz="2400"/>
              <a:t>Better performance in</a:t>
            </a:r>
            <a:r>
              <a:rPr lang="en-US" sz="2400"/>
              <a:t> complex judgment scenarios.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400"/>
          </a:p>
        </p:txBody>
      </p:sp>
      <p:sp>
        <p:nvSpPr>
          <p:cNvPr id="260" name="Google Shape;26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</a:t>
            </a:r>
            <a:r>
              <a:rPr lang="en-US" sz="1100">
                <a:solidFill>
                  <a:schemeClr val="dk1"/>
                </a:solidFill>
              </a:rPr>
              <a:t>Kejing Wang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(z</a:t>
            </a:r>
            <a:r>
              <a:rPr lang="en-US" sz="1100">
                <a:solidFill>
                  <a:schemeClr val="dk1"/>
                </a:solidFill>
              </a:rPr>
              <a:t>5526880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"/>
          <p:cNvSpPr txBox="1"/>
          <p:nvPr>
            <p:ph type="title"/>
          </p:nvPr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Method(s)</a:t>
            </a:r>
            <a:endParaRPr/>
          </a:p>
        </p:txBody>
      </p:sp>
      <p:sp>
        <p:nvSpPr>
          <p:cNvPr id="267" name="Google Shape;267;p22"/>
          <p:cNvSpPr txBox="1"/>
          <p:nvPr>
            <p:ph idx="1" type="body"/>
          </p:nvPr>
        </p:nvSpPr>
        <p:spPr>
          <a:xfrm>
            <a:off x="231648" y="975360"/>
            <a:ext cx="11631168" cy="5035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b="1" lang="en-US"/>
              <a:t>Qwen3 Supervised Fine-tuning -- </a:t>
            </a:r>
            <a:r>
              <a:rPr b="1" lang="en-US" sz="2400"/>
              <a:t>Experients setting</a:t>
            </a:r>
            <a:endParaRPr sz="2400"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b="1" lang="en-US" sz="2400"/>
              <a:t>   </a:t>
            </a:r>
            <a:endParaRPr sz="2400"/>
          </a:p>
        </p:txBody>
      </p:sp>
      <p:sp>
        <p:nvSpPr>
          <p:cNvPr id="268" name="Google Shape;26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Kejing Wang (z5526880)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758" y="1814195"/>
            <a:ext cx="7851842" cy="4196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 txBox="1"/>
          <p:nvPr>
            <p:ph type="title"/>
          </p:nvPr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Evaluation Metrics</a:t>
            </a:r>
            <a:endParaRPr/>
          </a:p>
        </p:txBody>
      </p:sp>
      <p:sp>
        <p:nvSpPr>
          <p:cNvPr id="276" name="Google Shape;27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119743" y="6225545"/>
            <a:ext cx="7326086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Weiye Li(z5597115)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5"/>
          <p:cNvSpPr txBox="1"/>
          <p:nvPr/>
        </p:nvSpPr>
        <p:spPr>
          <a:xfrm>
            <a:off x="901065" y="909955"/>
            <a:ext cx="10596245" cy="34016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Primary Metric:</a:t>
            </a:r>
            <a:endParaRPr b="1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Macro-F1 – equal weight for all classes; measures balanced performance; key for evaluating neutral class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Supporting Metrics:</a:t>
            </a:r>
            <a:endParaRPr b="1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Weighted-F1 – reflects real data distribution; helps identify class bias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Accuracy – measures overall correctness; may be influenced by majority classes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Diagnostic Metrics:</a:t>
            </a:r>
            <a:endParaRPr b="1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Macro-Precision – evaluates prediction correctness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Macro-Recall – evaluates coverage of true samples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used to analyze model behavior and class preference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520065" y="4410710"/>
            <a:ext cx="2173605" cy="487045"/>
          </a:xfrm>
          <a:prstGeom prst="roundRect">
            <a:avLst>
              <a:gd fmla="val 16667" name="adj"/>
            </a:avLst>
          </a:prstGeom>
          <a:solidFill>
            <a:srgbClr val="FFDC00"/>
          </a:solidFill>
          <a:ln>
            <a:noFill/>
          </a:ln>
        </p:spPr>
        <p:txBody>
          <a:bodyPr anchorCtr="0" anchor="ctr" bIns="79075" lIns="79075" spcFirstLastPara="1" rIns="79075" wrap="square" tIns="790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b="1" i="0" lang="en-US" sz="155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Insights</a:t>
            </a:r>
            <a:endParaRPr b="1" i="0" sz="155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324" y="4394130"/>
            <a:ext cx="486151" cy="48701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/>
          <p:cNvSpPr txBox="1"/>
          <p:nvPr/>
        </p:nvSpPr>
        <p:spPr>
          <a:xfrm>
            <a:off x="930910" y="4926965"/>
            <a:ext cx="10507980" cy="8966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the difficulty of neutral classification, Macro-F1 is essential to reveal true model performance beyond majority classes.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60b20a7d0_2_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8" name="Google Shape;288;g3e60b20a7d0_2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6"/>
          <p:cNvSpPr txBox="1"/>
          <p:nvPr>
            <p:ph type="title"/>
          </p:nvPr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Experiments and Results</a:t>
            </a:r>
            <a:endParaRPr/>
          </a:p>
        </p:txBody>
      </p:sp>
      <p:sp>
        <p:nvSpPr>
          <p:cNvPr id="294" name="Google Shape;29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119743" y="6225545"/>
            <a:ext cx="7326086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Weiye Li(z5597115)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182805"/>
            <a:ext cx="494279" cy="48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6"/>
          <p:cNvSpPr txBox="1"/>
          <p:nvPr/>
        </p:nvSpPr>
        <p:spPr>
          <a:xfrm>
            <a:off x="875030" y="1183005"/>
            <a:ext cx="7239635" cy="48641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Experiment A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Single-Factor Augmentation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6"/>
          <p:cNvSpPr txBox="1"/>
          <p:nvPr/>
        </p:nvSpPr>
        <p:spPr>
          <a:xfrm>
            <a:off x="1233805" y="1713865"/>
            <a:ext cx="10596245" cy="41173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</a:t>
            </a:r>
            <a:endParaRPr b="1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</a:t>
            </a: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overall performance</a:t>
            </a: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different models on 3-class sentiment classification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Evaluate ability to distinguish positive, neutral, and negative sentiments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Models:</a:t>
            </a:r>
            <a:endParaRPr b="1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Traditional methods:</a:t>
            </a: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Lexicon, SVM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Pretrained models:</a:t>
            </a: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BERT (before / after fine-tuning)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models:</a:t>
            </a: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Qwen3 series (0.6B / 1.7B / 4.0B, before / after fine-tuning)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Evaluation Setup: </a:t>
            </a:r>
            <a:endParaRPr b="1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Primary metric: Macro-F1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Supporting metrics: Accuracy, Weighted-F1, Precision, Recall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 evaluated on </a:t>
            </a: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both sources and averaged</a:t>
            </a:r>
            <a:endParaRPr b="1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4" name="Google Shape;304;p27"/>
          <p:cNvSpPr txBox="1"/>
          <p:nvPr/>
        </p:nvSpPr>
        <p:spPr>
          <a:xfrm>
            <a:off x="119743" y="6225545"/>
            <a:ext cx="7326086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Weiye Li(z5597115)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7"/>
          <p:cNvSpPr txBox="1"/>
          <p:nvPr/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Experiments and Results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ure1" id="306" name="Google Shape;30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0010" y="1144270"/>
            <a:ext cx="6556375" cy="4570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7" name="Google Shape;307;p27"/>
          <p:cNvGrpSpPr/>
          <p:nvPr/>
        </p:nvGrpSpPr>
        <p:grpSpPr>
          <a:xfrm>
            <a:off x="551180" y="1055348"/>
            <a:ext cx="2177415" cy="539977"/>
            <a:chOff x="526" y="5531"/>
            <a:chExt cx="3429" cy="850"/>
          </a:xfrm>
        </p:grpSpPr>
        <p:sp>
          <p:nvSpPr>
            <p:cNvPr id="308" name="Google Shape;308;p27"/>
            <p:cNvSpPr/>
            <p:nvPr/>
          </p:nvSpPr>
          <p:spPr>
            <a:xfrm>
              <a:off x="526" y="5531"/>
              <a:ext cx="3429" cy="850"/>
            </a:xfrm>
            <a:prstGeom prst="roundRect">
              <a:avLst>
                <a:gd fmla="val 16667" name="adj"/>
              </a:avLst>
            </a:prstGeom>
            <a:solidFill>
              <a:srgbClr val="FFD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Key Findings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9" name="Google Shape;309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3" y="5531"/>
              <a:ext cx="835" cy="8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0" name="Google Shape;310;p27"/>
          <p:cNvSpPr txBox="1"/>
          <p:nvPr/>
        </p:nvSpPr>
        <p:spPr>
          <a:xfrm>
            <a:off x="407670" y="1772285"/>
            <a:ext cx="4641215" cy="232791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Fine-tuning leads to substantial improvements across all models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performance gaps exist between model families (Qwen &gt; BERT &gt; traditional methods)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Models show different performance across data sources, indicating sensitivity to input variation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7"/>
          <p:cNvSpPr/>
          <p:nvPr/>
        </p:nvSpPr>
        <p:spPr>
          <a:xfrm>
            <a:off x="568325" y="4364990"/>
            <a:ext cx="2173605" cy="537845"/>
          </a:xfrm>
          <a:prstGeom prst="roundRect">
            <a:avLst>
              <a:gd fmla="val 16667" name="adj"/>
            </a:avLst>
          </a:prstGeom>
          <a:solidFill>
            <a:srgbClr val="FFDC00"/>
          </a:solidFill>
          <a:ln>
            <a:noFill/>
          </a:ln>
        </p:spPr>
        <p:txBody>
          <a:bodyPr anchorCtr="0" anchor="ctr" bIns="79075" lIns="79075" spcFirstLastPara="1" rIns="79075" wrap="square" tIns="790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b="1" i="0" lang="en-US" sz="155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Insights</a:t>
            </a:r>
            <a:endParaRPr b="1" i="0" sz="155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584" y="4348410"/>
            <a:ext cx="486151" cy="48701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7"/>
          <p:cNvSpPr txBox="1"/>
          <p:nvPr/>
        </p:nvSpPr>
        <p:spPr>
          <a:xfrm>
            <a:off x="479425" y="5083810"/>
            <a:ext cx="4910455" cy="8966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 differences arise from both model capacity and data variability, motivating further analysis......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8"/>
          <p:cNvSpPr txBox="1"/>
          <p:nvPr>
            <p:ph type="title"/>
          </p:nvPr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Experiments and Results</a:t>
            </a:r>
            <a:endParaRPr/>
          </a:p>
        </p:txBody>
      </p:sp>
      <p:sp>
        <p:nvSpPr>
          <p:cNvPr id="319" name="Google Shape;31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0" name="Google Shape;320;p28"/>
          <p:cNvSpPr txBox="1"/>
          <p:nvPr/>
        </p:nvSpPr>
        <p:spPr>
          <a:xfrm>
            <a:off x="119743" y="6225545"/>
            <a:ext cx="7326086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Weiye Li(z5597115)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182805"/>
            <a:ext cx="494279" cy="48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8"/>
          <p:cNvSpPr txBox="1"/>
          <p:nvPr/>
        </p:nvSpPr>
        <p:spPr>
          <a:xfrm>
            <a:off x="875030" y="1183005"/>
            <a:ext cx="7239635" cy="48641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Experiment B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Cross-source Performance Analysis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8"/>
          <p:cNvSpPr txBox="1"/>
          <p:nvPr/>
        </p:nvSpPr>
        <p:spPr>
          <a:xfrm>
            <a:off x="1090295" y="1557020"/>
            <a:ext cx="10596245" cy="44748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</a:t>
            </a:r>
            <a:endParaRPr b="1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Analyze how </a:t>
            </a: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performance</a:t>
            </a: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changes across different data sources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Evaluate </a:t>
            </a: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robustness and generalization ability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 Idea:</a:t>
            </a:r>
            <a:endParaRPr b="1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model, different sources → compare performance shift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Measure sensitivity to data distribution differences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Metric Definition: </a:t>
            </a:r>
            <a:endParaRPr b="1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performance gap for any metric</a:t>
            </a: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M: </a:t>
            </a: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gap(M) = |Ms</a:t>
            </a:r>
            <a:r>
              <a:rPr b="0" baseline="-2500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Ms</a:t>
            </a:r>
            <a:r>
              <a:rPr b="0" baseline="-2500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Evaluation Setup: </a:t>
            </a:r>
            <a:endParaRPr b="1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Focus on Macro-F1 gap 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Also consider gaps in Accuracy, Precision, Recall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Smaller gap → more stable model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9" name="Google Shape;329;p29"/>
          <p:cNvSpPr txBox="1"/>
          <p:nvPr/>
        </p:nvSpPr>
        <p:spPr>
          <a:xfrm>
            <a:off x="119743" y="6225545"/>
            <a:ext cx="7326086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Weiye Li(z5597115)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Experiments and Results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1" name="Google Shape;331;p29"/>
          <p:cNvGrpSpPr/>
          <p:nvPr/>
        </p:nvGrpSpPr>
        <p:grpSpPr>
          <a:xfrm>
            <a:off x="551180" y="1055348"/>
            <a:ext cx="2177415" cy="539977"/>
            <a:chOff x="526" y="5531"/>
            <a:chExt cx="3429" cy="850"/>
          </a:xfrm>
        </p:grpSpPr>
        <p:sp>
          <p:nvSpPr>
            <p:cNvPr id="332" name="Google Shape;332;p29"/>
            <p:cNvSpPr/>
            <p:nvPr/>
          </p:nvSpPr>
          <p:spPr>
            <a:xfrm>
              <a:off x="526" y="5531"/>
              <a:ext cx="3429" cy="850"/>
            </a:xfrm>
            <a:prstGeom prst="roundRect">
              <a:avLst>
                <a:gd fmla="val 16667" name="adj"/>
              </a:avLst>
            </a:prstGeom>
            <a:solidFill>
              <a:srgbClr val="FFD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Key Findings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3" name="Google Shape;33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3" y="5531"/>
              <a:ext cx="835" cy="8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4" name="Google Shape;334;p29"/>
          <p:cNvSpPr txBox="1"/>
          <p:nvPr/>
        </p:nvSpPr>
        <p:spPr>
          <a:xfrm>
            <a:off x="407670" y="1772285"/>
            <a:ext cx="4641215" cy="232791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Fine-tuning leads to substantial improvements across all models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performance gaps exist between model families (Qwen &gt; BERT &gt; traditional methods)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Models show different performance across data sources, indicating sensitivity to input variation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9"/>
          <p:cNvSpPr/>
          <p:nvPr/>
        </p:nvSpPr>
        <p:spPr>
          <a:xfrm>
            <a:off x="568325" y="4364990"/>
            <a:ext cx="2173605" cy="537845"/>
          </a:xfrm>
          <a:prstGeom prst="roundRect">
            <a:avLst>
              <a:gd fmla="val 16667" name="adj"/>
            </a:avLst>
          </a:prstGeom>
          <a:solidFill>
            <a:srgbClr val="FFDC00"/>
          </a:solidFill>
          <a:ln>
            <a:noFill/>
          </a:ln>
        </p:spPr>
        <p:txBody>
          <a:bodyPr anchorCtr="0" anchor="ctr" bIns="79075" lIns="79075" spcFirstLastPara="1" rIns="79075" wrap="square" tIns="790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b="1" i="0" lang="en-US" sz="155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Insights</a:t>
            </a:r>
            <a:endParaRPr b="1" i="0" sz="155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6" name="Google Shape;33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584" y="4348410"/>
            <a:ext cx="486151" cy="48701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9"/>
          <p:cNvSpPr txBox="1"/>
          <p:nvPr/>
        </p:nvSpPr>
        <p:spPr>
          <a:xfrm>
            <a:off x="479425" y="5083810"/>
            <a:ext cx="4910455" cy="8966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 differences arise from both model capacity and data variability, motivating further analysis......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8" name="Google Shape;338;p29"/>
          <p:cNvGraphicFramePr/>
          <p:nvPr/>
        </p:nvGraphicFramePr>
        <p:xfrm>
          <a:off x="5967095" y="11245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{139007F6-F729-45E2-AEAE-6890A6F9BD50}</a:tableStyleId>
              </a:tblPr>
              <a:tblGrid>
                <a:gridCol w="3140075"/>
                <a:gridCol w="2246625"/>
              </a:tblGrid>
              <a:tr h="397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 b="1" i="0" sz="15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Macro-F1 Gap</a:t>
                      </a:r>
                      <a:endParaRPr b="1" i="0" sz="15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</a:tr>
              <a:tr h="397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Qwen3-4.0B (fine-tuned)</a:t>
                      </a:r>
                      <a:endParaRPr b="1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0.0016</a:t>
                      </a:r>
                      <a:endParaRPr b="1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7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Qwen3-0.6B (before)</a:t>
                      </a:r>
                      <a:endParaRPr b="1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0.0034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7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Lexicon</a:t>
                      </a:r>
                      <a:endParaRPr b="1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0.0085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7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Qwen3-1.7B (fine-tuned)</a:t>
                      </a:r>
                      <a:endParaRPr b="1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0.0221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7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Qwen3-0.6B (fine-tuned)</a:t>
                      </a:r>
                      <a:endParaRPr b="1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0.023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7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BERT (before)</a:t>
                      </a:r>
                      <a:endParaRPr b="1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0.0301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7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SVM</a:t>
                      </a:r>
                      <a:endParaRPr b="1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0.04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7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Qwen3-1.7B (before)</a:t>
                      </a:r>
                      <a:endParaRPr b="1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0.0458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7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BERT (fine-tuned)</a:t>
                      </a:r>
                      <a:endParaRPr b="1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0.0463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7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Qwen3-4.0B (before)</a:t>
                      </a:r>
                      <a:endParaRPr b="1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25" marB="0" marR="7925" marL="7925" anchor="ctr">
                    <a:lnL cap="flat" cmpd="sng" w="12700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0.0941</a:t>
                      </a:r>
                      <a:endParaRPr b="0" i="0" sz="15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925" marB="0" marR="7925" marL="7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C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0"/>
          <p:cNvSpPr txBox="1"/>
          <p:nvPr>
            <p:ph type="title"/>
          </p:nvPr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Experiments and Results</a:t>
            </a:r>
            <a:endParaRPr/>
          </a:p>
        </p:txBody>
      </p:sp>
      <p:sp>
        <p:nvSpPr>
          <p:cNvPr id="344" name="Google Shape;344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5" name="Google Shape;345;p30"/>
          <p:cNvSpPr txBox="1"/>
          <p:nvPr/>
        </p:nvSpPr>
        <p:spPr>
          <a:xfrm>
            <a:off x="119743" y="6225545"/>
            <a:ext cx="7326086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Weiye Li(z5597115)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6" name="Google Shape;34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182805"/>
            <a:ext cx="494279" cy="48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0"/>
          <p:cNvSpPr txBox="1"/>
          <p:nvPr/>
        </p:nvSpPr>
        <p:spPr>
          <a:xfrm>
            <a:off x="875030" y="1183005"/>
            <a:ext cx="7239635" cy="48641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Experiment C: Fine-tuning Effect Analysis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0"/>
          <p:cNvSpPr txBox="1"/>
          <p:nvPr/>
        </p:nvSpPr>
        <p:spPr>
          <a:xfrm>
            <a:off x="1090295" y="1557020"/>
            <a:ext cx="10596245" cy="44748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</a:t>
            </a:r>
            <a:endParaRPr b="1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Evaluate how </a:t>
            </a: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fine-tuning</a:t>
            </a: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improves overall performance in 3-class sentiment classification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Analyze how models adapt to </a:t>
            </a: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task-specific semantic boundaries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 Idea:</a:t>
            </a:r>
            <a:endParaRPr b="1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model performance before and after fine-tuning on the same backbone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Measure how fine-tuning shifts decision boundaries across different models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Metric Definition: </a:t>
            </a:r>
            <a:endParaRPr b="1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Δ Macro-F1 = Macro-F1</a:t>
            </a:r>
            <a:r>
              <a:rPr b="0" baseline="-2500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− Macro-F1</a:t>
            </a:r>
            <a:r>
              <a:rPr b="0" baseline="-2500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Evaluation Setup: </a:t>
            </a:r>
            <a:endParaRPr b="1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Evaluate performance on both data sources (s0 and s1)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Δ Macro-F1 across models to assess improvement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Larger Δ indicates stronger adaptation to the task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4" name="Google Shape;354;p31"/>
          <p:cNvSpPr txBox="1"/>
          <p:nvPr/>
        </p:nvSpPr>
        <p:spPr>
          <a:xfrm>
            <a:off x="119743" y="6225545"/>
            <a:ext cx="7326086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Weiye Li(z5597115)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1"/>
          <p:cNvSpPr txBox="1"/>
          <p:nvPr/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Experiments and Results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ure4" id="356" name="Google Shape;356;p31"/>
          <p:cNvPicPr preferRelativeResize="0"/>
          <p:nvPr/>
        </p:nvPicPr>
        <p:blipFill rotWithShape="1">
          <a:blip r:embed="rId3">
            <a:alphaModFix/>
          </a:blip>
          <a:srcRect b="0" l="0" r="0" t="10604"/>
          <a:stretch/>
        </p:blipFill>
        <p:spPr>
          <a:xfrm>
            <a:off x="1056005" y="903605"/>
            <a:ext cx="9814560" cy="34944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7" name="Google Shape;357;p31"/>
          <p:cNvGrpSpPr/>
          <p:nvPr/>
        </p:nvGrpSpPr>
        <p:grpSpPr>
          <a:xfrm>
            <a:off x="551180" y="4284323"/>
            <a:ext cx="2177415" cy="539977"/>
            <a:chOff x="526" y="5531"/>
            <a:chExt cx="3429" cy="850"/>
          </a:xfrm>
        </p:grpSpPr>
        <p:sp>
          <p:nvSpPr>
            <p:cNvPr id="358" name="Google Shape;358;p31"/>
            <p:cNvSpPr/>
            <p:nvPr/>
          </p:nvSpPr>
          <p:spPr>
            <a:xfrm>
              <a:off x="526" y="5531"/>
              <a:ext cx="3429" cy="850"/>
            </a:xfrm>
            <a:prstGeom prst="roundRect">
              <a:avLst>
                <a:gd fmla="val 16667" name="adj"/>
              </a:avLst>
            </a:prstGeom>
            <a:solidFill>
              <a:srgbClr val="FFD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Key Findings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9" name="Google Shape;359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3" y="5531"/>
              <a:ext cx="835" cy="8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0" name="Google Shape;360;p31"/>
          <p:cNvSpPr txBox="1"/>
          <p:nvPr/>
        </p:nvSpPr>
        <p:spPr>
          <a:xfrm>
            <a:off x="767080" y="4796790"/>
            <a:ext cx="10932160" cy="1254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Fine-tuning leads to substantial performance improvements across all models, with weaker models showing significantly larger gains than stronger ones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BERT achieves the largest improvement, reflecting its strong dependence on task-specific adaptation and fine-tuning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2"/>
          <p:cNvSpPr txBox="1"/>
          <p:nvPr>
            <p:ph type="title"/>
          </p:nvPr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Experiments and Results</a:t>
            </a:r>
            <a:endParaRPr/>
          </a:p>
        </p:txBody>
      </p:sp>
      <p:sp>
        <p:nvSpPr>
          <p:cNvPr id="366" name="Google Shape;366;p32"/>
          <p:cNvSpPr txBox="1"/>
          <p:nvPr>
            <p:ph idx="12" type="sldNum"/>
          </p:nvPr>
        </p:nvSpPr>
        <p:spPr>
          <a:xfrm>
            <a:off x="8610600" y="614108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7" name="Google Shape;367;p32"/>
          <p:cNvSpPr txBox="1"/>
          <p:nvPr/>
        </p:nvSpPr>
        <p:spPr>
          <a:xfrm>
            <a:off x="119743" y="6225545"/>
            <a:ext cx="7326086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Weiye Li(z5597115)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8" name="Google Shape;36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967540"/>
            <a:ext cx="494279" cy="48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2"/>
          <p:cNvSpPr txBox="1"/>
          <p:nvPr/>
        </p:nvSpPr>
        <p:spPr>
          <a:xfrm>
            <a:off x="875030" y="967740"/>
            <a:ext cx="7239635" cy="48641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Experiment D: Per-class Performance Analysis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2"/>
          <p:cNvSpPr txBox="1"/>
          <p:nvPr/>
        </p:nvSpPr>
        <p:spPr>
          <a:xfrm>
            <a:off x="1090295" y="1341755"/>
            <a:ext cx="11027410" cy="48329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</a:t>
            </a:r>
            <a:endParaRPr b="1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Analyze model performance at the class level to identify differences across positive, neutral, and negative sentiments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Focus on the </a:t>
            </a: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neutral class</a:t>
            </a: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which is more challenging due to weaker and mixed emotional signals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 Idea:</a:t>
            </a:r>
            <a:endParaRPr b="1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Evaluate how models perform on each class rather than relying on overall metrics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 whether performance differences are driven by </a:t>
            </a: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imbalance or semantic difficulty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Evaluation Metrics: </a:t>
            </a:r>
            <a:endParaRPr b="1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Per-class Precision, Recall, and F1-score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class-wise performance across models and data sources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Evaluation Setup: </a:t>
            </a:r>
            <a:endParaRPr b="1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Decompose overall performance into per-class contributions to identify category-specific limitations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Analyze whether models can maintain a distinct neutral class under weak or ambiguous sentiment signals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6" name="Google Shape;376;p33"/>
          <p:cNvSpPr txBox="1"/>
          <p:nvPr/>
        </p:nvSpPr>
        <p:spPr>
          <a:xfrm>
            <a:off x="119743" y="6225545"/>
            <a:ext cx="7326086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Weiye Li(z5597115)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3"/>
          <p:cNvSpPr txBox="1"/>
          <p:nvPr/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Experiments and Results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8" name="Google Shape;378;p33"/>
          <p:cNvGrpSpPr/>
          <p:nvPr/>
        </p:nvGrpSpPr>
        <p:grpSpPr>
          <a:xfrm>
            <a:off x="551180" y="4284323"/>
            <a:ext cx="2177415" cy="539977"/>
            <a:chOff x="526" y="5531"/>
            <a:chExt cx="3429" cy="850"/>
          </a:xfrm>
        </p:grpSpPr>
        <p:sp>
          <p:nvSpPr>
            <p:cNvPr id="379" name="Google Shape;379;p33"/>
            <p:cNvSpPr/>
            <p:nvPr/>
          </p:nvSpPr>
          <p:spPr>
            <a:xfrm>
              <a:off x="526" y="5531"/>
              <a:ext cx="3429" cy="850"/>
            </a:xfrm>
            <a:prstGeom prst="roundRect">
              <a:avLst>
                <a:gd fmla="val 16667" name="adj"/>
              </a:avLst>
            </a:prstGeom>
            <a:solidFill>
              <a:srgbClr val="FFD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Key Findings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0" name="Google Shape;380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3" y="5531"/>
              <a:ext cx="835" cy="8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1" name="Google Shape;381;p33"/>
          <p:cNvSpPr txBox="1"/>
          <p:nvPr/>
        </p:nvSpPr>
        <p:spPr>
          <a:xfrm>
            <a:off x="767080" y="4796790"/>
            <a:ext cx="10932160" cy="1254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 is consistently high for positive and negative classes, but significantly lower for neutral across all models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Qwen3-4.0B (fine-tuned) achieves the best balance, substantially improving neutral classification while maintaining strong performance on other classes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ure6" id="382" name="Google Shape;38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7035" y="836295"/>
            <a:ext cx="5688965" cy="3394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gure7" id="383" name="Google Shape;383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789305"/>
            <a:ext cx="5767705" cy="3441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4"/>
          <p:cNvSpPr txBox="1"/>
          <p:nvPr>
            <p:ph type="title"/>
          </p:nvPr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Experiments and Results</a:t>
            </a:r>
            <a:endParaRPr/>
          </a:p>
        </p:txBody>
      </p:sp>
      <p:sp>
        <p:nvSpPr>
          <p:cNvPr id="389" name="Google Shape;389;p34"/>
          <p:cNvSpPr txBox="1"/>
          <p:nvPr>
            <p:ph idx="12" type="sldNum"/>
          </p:nvPr>
        </p:nvSpPr>
        <p:spPr>
          <a:xfrm>
            <a:off x="8610600" y="614108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0" name="Google Shape;390;p34"/>
          <p:cNvSpPr txBox="1"/>
          <p:nvPr/>
        </p:nvSpPr>
        <p:spPr>
          <a:xfrm>
            <a:off x="119743" y="6225545"/>
            <a:ext cx="7326086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Weiye Li(z5597115)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1" name="Google Shape;39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967540"/>
            <a:ext cx="494279" cy="48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4"/>
          <p:cNvSpPr txBox="1"/>
          <p:nvPr/>
        </p:nvSpPr>
        <p:spPr>
          <a:xfrm>
            <a:off x="875030" y="967740"/>
            <a:ext cx="7239635" cy="48641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Qualitative Error Analysis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4"/>
          <p:cNvSpPr txBox="1"/>
          <p:nvPr/>
        </p:nvSpPr>
        <p:spPr>
          <a:xfrm>
            <a:off x="1090295" y="1628140"/>
            <a:ext cx="11027410" cy="3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</a:t>
            </a:r>
            <a:endParaRPr b="1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Analyze misclassified samples to understand model limitations beyond numerical metrics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 common patterns behind prediction errors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 Idea:</a:t>
            </a:r>
            <a:endParaRPr b="1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Examine errors at the semantic level rather than treating them as isolated cases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errors into recurring patterns based on linguistic and sentiment characteristics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Analysis Method: </a:t>
            </a:r>
            <a:endParaRPr b="1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Collect all misclassified samples from Qwen3-4.0B (fine-tuned)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Categorize errors into predefined types (e.g., mixed sentiment, weak polarity, irony)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Analyze distribution and representative examples for each category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9" name="Google Shape;399;p35"/>
          <p:cNvSpPr txBox="1"/>
          <p:nvPr/>
        </p:nvSpPr>
        <p:spPr>
          <a:xfrm>
            <a:off x="119743" y="6225545"/>
            <a:ext cx="7326086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Presenter: Weiye Li(z5597115)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5"/>
          <p:cNvSpPr txBox="1"/>
          <p:nvPr/>
        </p:nvSpPr>
        <p:spPr>
          <a:xfrm>
            <a:off x="231648" y="136525"/>
            <a:ext cx="11631168" cy="838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Experiments and Results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1" name="Google Shape;401;p35"/>
          <p:cNvGrpSpPr/>
          <p:nvPr/>
        </p:nvGrpSpPr>
        <p:grpSpPr>
          <a:xfrm>
            <a:off x="551180" y="1198858"/>
            <a:ext cx="2177415" cy="539977"/>
            <a:chOff x="526" y="5531"/>
            <a:chExt cx="3429" cy="850"/>
          </a:xfrm>
        </p:grpSpPr>
        <p:sp>
          <p:nvSpPr>
            <p:cNvPr id="402" name="Google Shape;402;p35"/>
            <p:cNvSpPr/>
            <p:nvPr/>
          </p:nvSpPr>
          <p:spPr>
            <a:xfrm>
              <a:off x="526" y="5531"/>
              <a:ext cx="3429" cy="850"/>
            </a:xfrm>
            <a:prstGeom prst="roundRect">
              <a:avLst>
                <a:gd fmla="val 16667" name="adj"/>
              </a:avLst>
            </a:prstGeom>
            <a:solidFill>
              <a:srgbClr val="FFD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Key Findings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3" name="Google Shape;403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3" y="5531"/>
              <a:ext cx="835" cy="8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4" name="Google Shape;404;p35"/>
          <p:cNvSpPr txBox="1"/>
          <p:nvPr/>
        </p:nvSpPr>
        <p:spPr>
          <a:xfrm>
            <a:off x="407670" y="1915795"/>
            <a:ext cx="4641215" cy="20897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Errors are mainly concentrated in mixed and weak sentiment (~80%)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model tends to predict neutral under ambiguity or conflicting signals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 remains strong for clear positive and negative cases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5"/>
          <p:cNvSpPr/>
          <p:nvPr/>
        </p:nvSpPr>
        <p:spPr>
          <a:xfrm>
            <a:off x="568325" y="4077970"/>
            <a:ext cx="2173605" cy="537845"/>
          </a:xfrm>
          <a:prstGeom prst="roundRect">
            <a:avLst>
              <a:gd fmla="val 16667" name="adj"/>
            </a:avLst>
          </a:prstGeom>
          <a:solidFill>
            <a:srgbClr val="FFDC00"/>
          </a:solidFill>
          <a:ln>
            <a:noFill/>
          </a:ln>
        </p:spPr>
        <p:txBody>
          <a:bodyPr anchorCtr="0" anchor="ctr" bIns="79075" lIns="79075" spcFirstLastPara="1" rIns="79075" wrap="square" tIns="790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b="1" i="0" lang="en-US" sz="155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Insights</a:t>
            </a:r>
            <a:endParaRPr b="1" i="0" sz="155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6" name="Google Shape;40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584" y="4061390"/>
            <a:ext cx="486151" cy="48701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5"/>
          <p:cNvSpPr txBox="1"/>
          <p:nvPr/>
        </p:nvSpPr>
        <p:spPr>
          <a:xfrm>
            <a:off x="407670" y="4796790"/>
            <a:ext cx="4910455" cy="8966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main challenge lies in interpreting nuanced or conflicting sentiment, rather than identifying explicit polarity.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8" name="Google Shape;408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81600" y="1390650"/>
            <a:ext cx="7010400" cy="40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e60b20a7d0_2_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e60b20a7d0_2_3"/>
          <p:cNvSpPr txBox="1"/>
          <p:nvPr>
            <p:ph idx="1" type="body"/>
          </p:nvPr>
        </p:nvSpPr>
        <p:spPr>
          <a:xfrm>
            <a:off x="838200" y="1825625"/>
            <a:ext cx="10515600" cy="408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e60b20a7d0_2_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7" name="Google Shape;417;g3e60b20a7d0_2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sign&#10;&#10;Description automatically generated" id="422" name="Google Shape;422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2525" y="810244"/>
            <a:ext cx="6705300" cy="4589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4" name="Google Shape;424;p38"/>
          <p:cNvSpPr txBox="1"/>
          <p:nvPr/>
        </p:nvSpPr>
        <p:spPr>
          <a:xfrm>
            <a:off x="368381" y="6308080"/>
            <a:ext cx="670528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This Photo</a:t>
            </a: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Unknown Author is licensed under </a:t>
            </a:r>
            <a:r>
              <a:rPr b="0" i="0" lang="en-US" sz="9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 BY-SA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2022-11-14T00:04:00Z</dcterms:created>
  <dc:creator>Shisheng Zhang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2052-12.1.0.25860</vt:lpwstr>
  </property>
  <property fmtid="{D5CDD505-2E9C-101B-9397-08002B2CF9AE}" pid="3" name="ICV">
    <vt:lpwstr>CC3DFB657807427C992C9484FFDD380A_13</vt:lpwstr>
  </property>
</Properties>
</file>